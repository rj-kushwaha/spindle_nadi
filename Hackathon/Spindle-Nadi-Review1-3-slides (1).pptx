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Rajkishor: Good evening, judges. We are Team Spindle Nadi, Problem Statement 8. Machines like CNC routers and 3D printers do not break suddenly. They wear out slowly. Today labs check by hand or use one fixed alarm limit. Look at our example: a machine working at 90 percent is at 70 degrees. A fixed alarm at 65 rings, but the machine is fine. Spindle Nadi knows heat is normal at that work level, so it says Normal. If the machine is only at 30 percent work and still 70 degrees, that is a real problem, so we say Warning. Like a doctor checking a pulse, Spindle Nadi finds trouble hours before the machine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Raushan: When a machine part called a bearing wears out, it shakes more. We do not guess limits. We use the ISO 10816 world standard for shaking speed. For a small machine, under 1.8 millimeters per second is Normal, 1.8 to 4.5 is Warning, and over 4.5 is Critical. Our physics model makes real-looking data for three states, so we can estimate the Last Good Hour.
Aakash: First we fix sensor values for workload, so a busy machine does not cause a false alarm. Then Isolation Forest finds odd signals and XGBoost gives a risk score from 0 to 100 percent. Up to 40 is Normal, 40 to 70 is Warning, above 70 is Critical. Our WHY engine shows the cause. Here, risk is 78 percent, and 52 percent of it comes from bearing shaking. Everything is software, so we can build it in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Hritu: We have 24 hours and 4 phases of 6 hours each. First 6 hours: set up the project and the data simulator. Next 6 hours: train the AI and build the first dashboard with charts and status badges. Then 6 hours for the WHY panel, ISO rules and repair history. Last 6 hours: test all 3 machine states, record a backup video, and practice. There are 4 of us and each owns one area: Raushan does the physics, Aakash the AI, Rajkishor the dashboard, and I do the pitch and testing. We are on schedule for a working prototype for Review 2.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F1F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7F82"/>
          </a:solidFill>
        </p:spPr>
      </p:sp>
      <p:sp>
        <p:nvSpPr>
          <p:cNvPr id="3" name="Text 1"/>
          <p:cNvSpPr txBox="1"/>
          <p:nvPr/>
        </p:nvSpPr>
        <p:spPr>
          <a:xfrm>
            <a:off x="502920" y="228600"/>
            <a:ext cx="5852160" cy="502920"/>
          </a:xfrm>
          <a:prstGeom prst="rect">
            <a:avLst/>
          </a:prstGeom>
          <a:noFill/>
        </p:spPr>
        <p:txBody>
          <a:bodyPr wrap="square" lIns="0" tIns="0" rIns="0" bIns="0" rtlCol="0" anchor="ctr"/>
          <a:lstStyle/>
          <a:p>
            <a:pPr marL="0" indent="0">
              <a:buNone/>
            </a:pPr>
            <a:r>
              <a:rPr lang="en-US" sz="2800" b="1" dirty="0">
                <a:solidFill>
                  <a:srgbClr val="14202B"/>
                </a:solidFill>
                <a:latin typeface="Calibri" pitchFamily="34" charset="0"/>
                <a:ea typeface="Calibri" pitchFamily="34" charset="-122"/>
                <a:cs typeface="Calibri" pitchFamily="34" charset="-120"/>
              </a:rPr>
              <a:t>1. Problem statement understanding</a:t>
            </a:r>
            <a:endParaRPr lang="en-US" sz="2800" dirty="0"/>
          </a:p>
        </p:txBody>
      </p:sp>
      <p:sp>
        <p:nvSpPr>
          <p:cNvPr id="4" name="Text 2"/>
          <p:cNvSpPr txBox="1"/>
          <p:nvPr/>
        </p:nvSpPr>
        <p:spPr>
          <a:xfrm>
            <a:off x="502920" y="822960"/>
            <a:ext cx="5852160" cy="320040"/>
          </a:xfrm>
          <a:prstGeom prst="rect">
            <a:avLst/>
          </a:prstGeom>
          <a:noFill/>
        </p:spPr>
        <p:txBody>
          <a:bodyPr wrap="square" lIns="0" tIns="0" rIns="0" bIns="0" rtlCol="0" anchor="ctr"/>
          <a:lstStyle/>
          <a:p>
            <a:pPr marL="0" indent="0">
              <a:buNone/>
            </a:pPr>
            <a:r>
              <a:rPr lang="en-US" sz="1400" dirty="0">
                <a:solidFill>
                  <a:srgbClr val="566878"/>
                </a:solidFill>
                <a:latin typeface="Calibri" pitchFamily="34" charset="0"/>
                <a:ea typeface="Calibri" pitchFamily="34" charset="-122"/>
                <a:cs typeface="Calibri" pitchFamily="34" charset="-120"/>
              </a:rPr>
              <a:t>PS 8: Smart way to find machine problems early</a:t>
            </a:r>
            <a:endParaRPr lang="en-US" sz="1400" dirty="0"/>
          </a:p>
        </p:txBody>
      </p:sp>
      <p:sp>
        <p:nvSpPr>
          <p:cNvPr id="5" name="Shape 3"/>
          <p:cNvSpPr/>
          <p:nvPr/>
        </p:nvSpPr>
        <p:spPr>
          <a:xfrm>
            <a:off x="6400800" y="274320"/>
            <a:ext cx="2286000" cy="731520"/>
          </a:xfrm>
          <a:prstGeom prst="roundRect">
            <a:avLst>
              <a:gd name="adj" fmla="val 10000"/>
            </a:avLst>
          </a:prstGeom>
          <a:solidFill>
            <a:srgbClr val="14202B"/>
          </a:solidFill>
        </p:spPr>
      </p:sp>
      <p:sp>
        <p:nvSpPr>
          <p:cNvPr id="6" name="Text 4"/>
          <p:cNvSpPr txBox="1"/>
          <p:nvPr/>
        </p:nvSpPr>
        <p:spPr>
          <a:xfrm>
            <a:off x="6537960" y="329184"/>
            <a:ext cx="2057400" cy="640080"/>
          </a:xfrm>
          <a:prstGeom prst="rect">
            <a:avLst/>
          </a:prstGeom>
          <a:noFill/>
        </p:spPr>
        <p:txBody>
          <a:bodyPr wrap="square" lIns="0" tIns="0" rIns="0" bIns="0" rtlCol="0" anchor="ctr"/>
          <a:lstStyle/>
          <a:p>
            <a:pPr marL="0" indent="0">
              <a:buNone/>
            </a:pPr>
            <a:r>
              <a:rPr lang="en-US" sz="1100" dirty="0">
                <a:solidFill>
                  <a:srgbClr val="9FD8DA"/>
                </a:solidFill>
                <a:latin typeface="Calibri" pitchFamily="34" charset="0"/>
                <a:ea typeface="Calibri" pitchFamily="34" charset="-122"/>
                <a:cs typeface="Calibri" pitchFamily="34" charset="-120"/>
              </a:rPr>
              <a:t>Speaking</a:t>
            </a:r>
            <a:endParaRPr lang="en-US" sz="1100" dirty="0"/>
          </a:p>
          <a:p>
            <a:pPr marL="0" indent="0">
              <a:buNone/>
            </a:pPr>
            <a:r>
              <a:rPr lang="en-US" sz="1300" b="1" dirty="0">
                <a:solidFill>
                  <a:srgbClr val="FFFFFF"/>
                </a:solidFill>
                <a:latin typeface="Calibri" pitchFamily="34" charset="0"/>
                <a:ea typeface="Calibri" pitchFamily="34" charset="-122"/>
                <a:cs typeface="Calibri" pitchFamily="34" charset="-120"/>
              </a:rPr>
              <a:t>Rajkishor Kushwaha</a:t>
            </a:r>
            <a:endParaRPr lang="en-US" sz="1100" dirty="0"/>
          </a:p>
        </p:txBody>
      </p:sp>
      <p:sp>
        <p:nvSpPr>
          <p:cNvPr id="7" name="Text 5"/>
          <p:cNvSpPr txBox="1"/>
          <p:nvPr/>
        </p:nvSpPr>
        <p:spPr>
          <a:xfrm>
            <a:off x="502920" y="4828032"/>
            <a:ext cx="8229600" cy="228600"/>
          </a:xfrm>
          <a:prstGeom prst="rect">
            <a:avLst/>
          </a:prstGeom>
          <a:noFill/>
        </p:spPr>
        <p:txBody>
          <a:bodyPr wrap="square" lIns="0" tIns="0" rIns="0" bIns="0" rtlCol="0" anchor="ctr"/>
          <a:lstStyle/>
          <a:p>
            <a:pPr marL="0" indent="0">
              <a:buNone/>
            </a:pPr>
            <a:r>
              <a:rPr lang="en-US" sz="1000" dirty="0">
                <a:solidFill>
                  <a:srgbClr val="566878"/>
                </a:solidFill>
                <a:latin typeface="Calibri" pitchFamily="34" charset="0"/>
                <a:ea typeface="Calibri" pitchFamily="34" charset="-122"/>
                <a:cs typeface="Calibri" pitchFamily="34" charset="-120"/>
              </a:rPr>
              <a:t>Spindle Nadi: predicting the machine’s "Last Good Hour"   |  </a:t>
            </a:r>
            <a:endParaRPr lang="en-US" sz="1000" dirty="0"/>
          </a:p>
        </p:txBody>
      </p:sp>
      <p:sp>
        <p:nvSpPr>
          <p:cNvPr id="8" name="Shape 6"/>
          <p:cNvSpPr/>
          <p:nvPr/>
        </p:nvSpPr>
        <p:spPr>
          <a:xfrm>
            <a:off x="502920" y="1234440"/>
            <a:ext cx="4572000" cy="960120"/>
          </a:xfrm>
          <a:prstGeom prst="rect">
            <a:avLst/>
          </a:prstGeom>
          <a:solidFill>
            <a:srgbClr val="FFFFFF"/>
          </a:solidFill>
          <a:ln w="12700">
            <a:solidFill>
              <a:srgbClr val="CBD4DC"/>
            </a:solidFill>
            <a:prstDash val="solid"/>
          </a:ln>
        </p:spPr>
      </p:sp>
      <p:sp>
        <p:nvSpPr>
          <p:cNvPr id="9" name="Shape 7"/>
          <p:cNvSpPr/>
          <p:nvPr/>
        </p:nvSpPr>
        <p:spPr>
          <a:xfrm>
            <a:off x="502920" y="1234440"/>
            <a:ext cx="64008" cy="960120"/>
          </a:xfrm>
          <a:prstGeom prst="rect">
            <a:avLst/>
          </a:prstGeom>
          <a:solidFill>
            <a:srgbClr val="C0392B"/>
          </a:solidFill>
        </p:spPr>
      </p:sp>
      <p:sp>
        <p:nvSpPr>
          <p:cNvPr id="10" name="Text 8"/>
          <p:cNvSpPr txBox="1"/>
          <p:nvPr/>
        </p:nvSpPr>
        <p:spPr>
          <a:xfrm>
            <a:off x="685800" y="1325880"/>
            <a:ext cx="4251960" cy="292608"/>
          </a:xfrm>
          <a:prstGeom prst="rect">
            <a:avLst/>
          </a:prstGeom>
          <a:noFill/>
        </p:spPr>
        <p:txBody>
          <a:bodyPr wrap="square" lIns="0" tIns="0" rIns="0" bIns="0" rtlCol="0" anchor="ctr"/>
          <a:lstStyle/>
          <a:p>
            <a:pPr marL="0" indent="0">
              <a:buNone/>
            </a:pPr>
            <a:r>
              <a:rPr lang="en-US" sz="1600" b="1" dirty="0">
                <a:solidFill>
                  <a:srgbClr val="14202B"/>
                </a:solidFill>
                <a:latin typeface="Calibri" pitchFamily="34" charset="0"/>
                <a:ea typeface="Calibri" pitchFamily="34" charset="-122"/>
                <a:cs typeface="Calibri" pitchFamily="34" charset="-120"/>
              </a:rPr>
              <a:t>The problem</a:t>
            </a:r>
            <a:endParaRPr lang="en-US" sz="1600" dirty="0"/>
          </a:p>
        </p:txBody>
      </p:sp>
      <p:sp>
        <p:nvSpPr>
          <p:cNvPr id="11" name="Text 9"/>
          <p:cNvSpPr txBox="1"/>
          <p:nvPr/>
        </p:nvSpPr>
        <p:spPr>
          <a:xfrm>
            <a:off x="685800" y="1645920"/>
            <a:ext cx="4251960" cy="502920"/>
          </a:xfrm>
          <a:prstGeom prst="rect">
            <a:avLst/>
          </a:prstGeom>
          <a:noFill/>
        </p:spPr>
        <p:txBody>
          <a:bodyPr wrap="square" lIns="0" tIns="0" rIns="0" bIns="0" rtlCol="0" anchor="t"/>
          <a:lstStyle/>
          <a:p>
            <a:pPr marL="0" indent="0">
              <a:buNone/>
            </a:pPr>
            <a:r>
              <a:rPr lang="en-US" sz="1300" dirty="0">
                <a:solidFill>
                  <a:srgbClr val="566878"/>
                </a:solidFill>
                <a:latin typeface="Calibri" pitchFamily="34" charset="0"/>
                <a:ea typeface="Calibri" pitchFamily="34" charset="-122"/>
                <a:cs typeface="Calibri" pitchFamily="34" charset="-120"/>
              </a:rPr>
              <a:t>CNC machines and 3D printers in labs stop without warning. Student projects stop. Repairs cost money.</a:t>
            </a:r>
            <a:endParaRPr lang="en-US" sz="1300" dirty="0"/>
          </a:p>
        </p:txBody>
      </p:sp>
      <p:sp>
        <p:nvSpPr>
          <p:cNvPr id="12" name="Shape 10"/>
          <p:cNvSpPr/>
          <p:nvPr/>
        </p:nvSpPr>
        <p:spPr>
          <a:xfrm>
            <a:off x="502920" y="2331720"/>
            <a:ext cx="4572000" cy="1005840"/>
          </a:xfrm>
          <a:prstGeom prst="rect">
            <a:avLst/>
          </a:prstGeom>
          <a:solidFill>
            <a:srgbClr val="FFFFFF"/>
          </a:solidFill>
          <a:ln w="12700">
            <a:solidFill>
              <a:srgbClr val="CBD4DC"/>
            </a:solidFill>
            <a:prstDash val="solid"/>
          </a:ln>
        </p:spPr>
      </p:sp>
      <p:sp>
        <p:nvSpPr>
          <p:cNvPr id="13" name="Shape 11"/>
          <p:cNvSpPr/>
          <p:nvPr/>
        </p:nvSpPr>
        <p:spPr>
          <a:xfrm>
            <a:off x="502920" y="2331720"/>
            <a:ext cx="64008" cy="1005840"/>
          </a:xfrm>
          <a:prstGeom prst="rect">
            <a:avLst/>
          </a:prstGeom>
          <a:solidFill>
            <a:srgbClr val="B9820A"/>
          </a:solidFill>
        </p:spPr>
      </p:sp>
      <p:sp>
        <p:nvSpPr>
          <p:cNvPr id="14" name="Text 12"/>
          <p:cNvSpPr txBox="1"/>
          <p:nvPr/>
        </p:nvSpPr>
        <p:spPr>
          <a:xfrm>
            <a:off x="685800" y="2423160"/>
            <a:ext cx="4251960" cy="292608"/>
          </a:xfrm>
          <a:prstGeom prst="rect">
            <a:avLst/>
          </a:prstGeom>
          <a:noFill/>
        </p:spPr>
        <p:txBody>
          <a:bodyPr wrap="square" lIns="0" tIns="0" rIns="0" bIns="0" rtlCol="0" anchor="ctr"/>
          <a:lstStyle/>
          <a:p>
            <a:pPr marL="0" indent="0">
              <a:buNone/>
            </a:pPr>
            <a:r>
              <a:rPr lang="en-US" sz="1600" b="1" dirty="0">
                <a:solidFill>
                  <a:srgbClr val="14202B"/>
                </a:solidFill>
                <a:latin typeface="Calibri" pitchFamily="34" charset="0"/>
                <a:ea typeface="Calibri" pitchFamily="34" charset="-122"/>
                <a:cs typeface="Calibri" pitchFamily="34" charset="-120"/>
              </a:rPr>
              <a:t>Why the old way fails</a:t>
            </a:r>
            <a:endParaRPr lang="en-US" sz="1600" dirty="0"/>
          </a:p>
        </p:txBody>
      </p:sp>
      <p:sp>
        <p:nvSpPr>
          <p:cNvPr id="15" name="Text 13"/>
          <p:cNvSpPr txBox="1"/>
          <p:nvPr/>
        </p:nvSpPr>
        <p:spPr>
          <a:xfrm>
            <a:off x="685800" y="2743200"/>
            <a:ext cx="4251960" cy="548640"/>
          </a:xfrm>
          <a:prstGeom prst="rect">
            <a:avLst/>
          </a:prstGeom>
          <a:noFill/>
        </p:spPr>
        <p:txBody>
          <a:bodyPr wrap="square" lIns="0" tIns="0" rIns="0" bIns="0" rtlCol="0" anchor="t"/>
          <a:lstStyle/>
          <a:p>
            <a:pPr marL="0" indent="0">
              <a:buNone/>
            </a:pPr>
            <a:r>
              <a:rPr lang="en-US" sz="1300" dirty="0">
                <a:solidFill>
                  <a:srgbClr val="566878"/>
                </a:solidFill>
                <a:latin typeface="Calibri" pitchFamily="34" charset="0"/>
                <a:ea typeface="Calibri" pitchFamily="34" charset="-122"/>
                <a:cs typeface="Calibri" pitchFamily="34" charset="-120"/>
              </a:rPr>
              <a:t>Labs check by hand or use one fixed alarm limit. It rings by mistake when the machine is busy, or too late.</a:t>
            </a:r>
            <a:endParaRPr lang="en-US" sz="1300" dirty="0"/>
          </a:p>
        </p:txBody>
      </p:sp>
      <p:sp>
        <p:nvSpPr>
          <p:cNvPr id="16" name="Shape 14"/>
          <p:cNvSpPr/>
          <p:nvPr/>
        </p:nvSpPr>
        <p:spPr>
          <a:xfrm>
            <a:off x="502920" y="3474720"/>
            <a:ext cx="4572000" cy="1234440"/>
          </a:xfrm>
          <a:prstGeom prst="rect">
            <a:avLst/>
          </a:prstGeom>
          <a:solidFill>
            <a:srgbClr val="FFFFFF"/>
          </a:solidFill>
          <a:ln w="12700">
            <a:solidFill>
              <a:srgbClr val="CBD4DC"/>
            </a:solidFill>
            <a:prstDash val="solid"/>
          </a:ln>
        </p:spPr>
      </p:sp>
      <p:sp>
        <p:nvSpPr>
          <p:cNvPr id="17" name="Shape 15"/>
          <p:cNvSpPr/>
          <p:nvPr/>
        </p:nvSpPr>
        <p:spPr>
          <a:xfrm>
            <a:off x="502920" y="3474720"/>
            <a:ext cx="64008" cy="1234440"/>
          </a:xfrm>
          <a:prstGeom prst="rect">
            <a:avLst/>
          </a:prstGeom>
          <a:solidFill>
            <a:srgbClr val="0F7F82"/>
          </a:solidFill>
        </p:spPr>
      </p:sp>
      <p:sp>
        <p:nvSpPr>
          <p:cNvPr id="18" name="Text 16"/>
          <p:cNvSpPr txBox="1"/>
          <p:nvPr/>
        </p:nvSpPr>
        <p:spPr>
          <a:xfrm>
            <a:off x="685800" y="3566160"/>
            <a:ext cx="4251960" cy="292608"/>
          </a:xfrm>
          <a:prstGeom prst="rect">
            <a:avLst/>
          </a:prstGeom>
          <a:noFill/>
        </p:spPr>
        <p:txBody>
          <a:bodyPr wrap="square" lIns="0" tIns="0" rIns="0" bIns="0" rtlCol="0" anchor="ctr"/>
          <a:lstStyle/>
          <a:p>
            <a:pPr marL="0" indent="0">
              <a:buNone/>
            </a:pPr>
            <a:r>
              <a:rPr lang="en-US" sz="1600" b="1" dirty="0">
                <a:solidFill>
                  <a:srgbClr val="14202B"/>
                </a:solidFill>
                <a:latin typeface="Calibri" pitchFamily="34" charset="0"/>
                <a:ea typeface="Calibri" pitchFamily="34" charset="-122"/>
                <a:cs typeface="Calibri" pitchFamily="34" charset="-120"/>
              </a:rPr>
              <a:t>Our answer: Spindle Nadi</a:t>
            </a:r>
            <a:endParaRPr lang="en-US" sz="1600" dirty="0"/>
          </a:p>
        </p:txBody>
      </p:sp>
      <p:sp>
        <p:nvSpPr>
          <p:cNvPr id="19" name="Text 17"/>
          <p:cNvSpPr txBox="1"/>
          <p:nvPr/>
        </p:nvSpPr>
        <p:spPr>
          <a:xfrm>
            <a:off x="685800" y="3886200"/>
            <a:ext cx="4251960" cy="777240"/>
          </a:xfrm>
          <a:prstGeom prst="rect">
            <a:avLst/>
          </a:prstGeom>
          <a:noFill/>
        </p:spPr>
        <p:txBody>
          <a:bodyPr wrap="square" lIns="0" tIns="0" rIns="0" bIns="0" rtlCol="0" anchor="t"/>
          <a:lstStyle/>
          <a:p>
            <a:pPr marL="0" indent="0">
              <a:buNone/>
            </a:pPr>
            <a:r>
              <a:rPr lang="en-US" sz="1250" dirty="0">
                <a:solidFill>
                  <a:srgbClr val="566878"/>
                </a:solidFill>
                <a:latin typeface="Calibri" pitchFamily="34" charset="0"/>
                <a:ea typeface="Calibri" pitchFamily="34" charset="-122"/>
                <a:cs typeface="Calibri" pitchFamily="34" charset="-120"/>
              </a:rPr>
              <a:t>Like a doctor checks a pulse (Nadi), we check the machine’s pulse: heat, shaking, power use, speed and how hard it works. We find slow damage early and say how many hours are left.</a:t>
            </a:r>
            <a:endParaRPr lang="en-US" sz="1250" dirty="0"/>
          </a:p>
        </p:txBody>
      </p:sp>
      <p:sp>
        <p:nvSpPr>
          <p:cNvPr id="20" name="Shape 18"/>
          <p:cNvSpPr/>
          <p:nvPr/>
        </p:nvSpPr>
        <p:spPr>
          <a:xfrm>
            <a:off x="5257800" y="1234440"/>
            <a:ext cx="3429000" cy="3474720"/>
          </a:xfrm>
          <a:prstGeom prst="rect">
            <a:avLst/>
          </a:prstGeom>
          <a:solidFill>
            <a:srgbClr val="FFFFFF"/>
          </a:solidFill>
          <a:ln w="12700">
            <a:solidFill>
              <a:srgbClr val="CBD4DC"/>
            </a:solidFill>
            <a:prstDash val="solid"/>
          </a:ln>
        </p:spPr>
      </p:sp>
      <p:sp>
        <p:nvSpPr>
          <p:cNvPr id="21" name="Text 19"/>
          <p:cNvSpPr txBox="1"/>
          <p:nvPr/>
        </p:nvSpPr>
        <p:spPr>
          <a:xfrm>
            <a:off x="5440680" y="1325880"/>
            <a:ext cx="3108960" cy="457200"/>
          </a:xfrm>
          <a:prstGeom prst="rect">
            <a:avLst/>
          </a:prstGeom>
          <a:noFill/>
        </p:spPr>
        <p:txBody>
          <a:bodyPr wrap="square" lIns="0" tIns="0" rIns="0" bIns="0" rtlCol="0" anchor="ctr"/>
          <a:lstStyle/>
          <a:p>
            <a:pPr marL="0" indent="0">
              <a:buNone/>
            </a:pPr>
            <a:r>
              <a:rPr lang="en-US" sz="1500" b="1" dirty="0">
                <a:solidFill>
                  <a:srgbClr val="14202B"/>
                </a:solidFill>
                <a:latin typeface="Calibri" pitchFamily="34" charset="0"/>
                <a:ea typeface="Calibri" pitchFamily="34" charset="-122"/>
                <a:cs typeface="Calibri" pitchFamily="34" charset="-120"/>
              </a:rPr>
              <a:t>Example: same heat, different meaning</a:t>
            </a:r>
            <a:endParaRPr lang="en-US" sz="1500" dirty="0"/>
          </a:p>
        </p:txBody>
      </p:sp>
      <p:graphicFrame>
        <p:nvGraphicFramePr>
          <p:cNvPr id="22" name="Table 0"/>
          <p:cNvGraphicFramePr>
            <a:graphicFrameLocks noGrp="1"/>
          </p:cNvGraphicFramePr>
          <p:nvPr/>
        </p:nvGraphicFramePr>
        <p:xfrm>
          <a:off x="5440680" y="1874520"/>
          <a:ext cx="3063240" cy="914400"/>
        </p:xfrm>
        <a:graphic>
          <a:graphicData uri="http://schemas.openxmlformats.org/drawingml/2006/table">
            <a:tbl>
              <a:tblPr/>
              <a:tblGrid>
                <a:gridCol w="914400"/>
                <a:gridCol w="914400"/>
                <a:gridCol w="1234440"/>
              </a:tblGrid>
              <a:tr h="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Machine</a:t>
                      </a:r>
                      <a:endParaRPr lang="en-US" sz="1200" dirty="0">
                        <a:latin typeface="Calibri" pitchFamily="34" charset="0"/>
                        <a:ea typeface="Calibri" pitchFamily="34" charset="0"/>
                        <a:cs typeface="Calibri" pitchFamily="34" charset="0"/>
                      </a:endParaRPr>
                    </a:p>
                  </a:txBody>
                  <a:tcPr marL="54864" marR="54864" marT="54864" marB="54864" anchor="ctr">
                    <a:lnL w="12700" cap="flat" cmpd="sng" algn="ctr">
                      <a:solidFill>
                        <a:srgbClr val="CBD4DC"/>
                      </a:solidFill>
                      <a:prstDash val="solid"/>
                      <a:round/>
                      <a:headEnd type="none" w="med" len="med"/>
                      <a:tailEnd type="none" w="med" len="med"/>
                    </a:lnL>
                    <a:lnR w="12700" cap="flat" cmpd="sng" algn="ctr">
                      <a:solidFill>
                        <a:srgbClr val="CBD4DC"/>
                      </a:solidFill>
                      <a:prstDash val="solid"/>
                      <a:round/>
                      <a:headEnd type="none" w="med" len="med"/>
                      <a:tailEnd type="none" w="med" len="med"/>
                    </a:lnR>
                    <a:lnT w="12700" cap="flat" cmpd="sng" algn="ctr">
                      <a:solidFill>
                        <a:srgbClr val="CBD4DC"/>
                      </a:solidFill>
                      <a:prstDash val="solid"/>
                      <a:round/>
                      <a:headEnd type="none" w="med" len="med"/>
                      <a:tailEnd type="none" w="med" len="med"/>
                    </a:lnT>
                    <a:lnB w="12700" cap="flat" cmpd="sng" algn="ctr">
                      <a:solidFill>
                        <a:srgbClr val="CBD4DC"/>
                      </a:solidFill>
                      <a:prstDash val="solid"/>
                      <a:round/>
                      <a:headEnd type="none" w="med" len="med"/>
                      <a:tailEnd type="none" w="med" len="med"/>
                    </a:lnB>
                    <a:solidFill>
                      <a:srgbClr val="14202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Fixed alarm (65°C)</a:t>
                      </a:r>
                      <a:endParaRPr lang="en-US" sz="1200" dirty="0">
                        <a:latin typeface="Calibri" pitchFamily="34" charset="0"/>
                        <a:ea typeface="Calibri" pitchFamily="34" charset="0"/>
                        <a:cs typeface="Calibri" pitchFamily="34" charset="0"/>
                      </a:endParaRPr>
                    </a:p>
                  </a:txBody>
                  <a:tcPr marL="54864" marR="54864" marT="54864" marB="54864" anchor="ctr">
                    <a:lnL w="12700" cap="flat" cmpd="sng" algn="ctr">
                      <a:solidFill>
                        <a:srgbClr val="CBD4DC"/>
                      </a:solidFill>
                      <a:prstDash val="solid"/>
                      <a:round/>
                      <a:headEnd type="none" w="med" len="med"/>
                      <a:tailEnd type="none" w="med" len="med"/>
                    </a:lnL>
                    <a:lnR w="12700" cap="flat" cmpd="sng" algn="ctr">
                      <a:solidFill>
                        <a:srgbClr val="CBD4DC"/>
                      </a:solidFill>
                      <a:prstDash val="solid"/>
                      <a:round/>
                      <a:headEnd type="none" w="med" len="med"/>
                      <a:tailEnd type="none" w="med" len="med"/>
                    </a:lnR>
                    <a:lnT w="12700" cap="flat" cmpd="sng" algn="ctr">
                      <a:solidFill>
                        <a:srgbClr val="CBD4DC"/>
                      </a:solidFill>
                      <a:prstDash val="solid"/>
                      <a:round/>
                      <a:headEnd type="none" w="med" len="med"/>
                      <a:tailEnd type="none" w="med" len="med"/>
                    </a:lnT>
                    <a:lnB w="12700" cap="flat" cmpd="sng" algn="ctr">
                      <a:solidFill>
                        <a:srgbClr val="CBD4DC"/>
                      </a:solidFill>
                      <a:prstDash val="solid"/>
                      <a:round/>
                      <a:headEnd type="none" w="med" len="med"/>
                      <a:tailEnd type="none" w="med" len="med"/>
                    </a:lnB>
                    <a:solidFill>
                      <a:srgbClr val="14202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Spindle Nadi</a:t>
                      </a:r>
                      <a:endParaRPr lang="en-US" sz="1200" dirty="0">
                        <a:latin typeface="Calibri" pitchFamily="34" charset="0"/>
                        <a:ea typeface="Calibri" pitchFamily="34" charset="0"/>
                        <a:cs typeface="Calibri" pitchFamily="34" charset="0"/>
                      </a:endParaRPr>
                    </a:p>
                  </a:txBody>
                  <a:tcPr marL="54864" marR="54864" marT="54864" marB="54864" anchor="ctr">
                    <a:lnL w="12700" cap="flat" cmpd="sng" algn="ctr">
                      <a:solidFill>
                        <a:srgbClr val="CBD4DC"/>
                      </a:solidFill>
                      <a:prstDash val="solid"/>
                      <a:round/>
                      <a:headEnd type="none" w="med" len="med"/>
                      <a:tailEnd type="none" w="med" len="med"/>
                    </a:lnL>
                    <a:lnR w="12700" cap="flat" cmpd="sng" algn="ctr">
                      <a:solidFill>
                        <a:srgbClr val="CBD4DC"/>
                      </a:solidFill>
                      <a:prstDash val="solid"/>
                      <a:round/>
                      <a:headEnd type="none" w="med" len="med"/>
                      <a:tailEnd type="none" w="med" len="med"/>
                    </a:lnR>
                    <a:lnT w="12700" cap="flat" cmpd="sng" algn="ctr">
                      <a:solidFill>
                        <a:srgbClr val="CBD4DC"/>
                      </a:solidFill>
                      <a:prstDash val="solid"/>
                      <a:round/>
                      <a:headEnd type="none" w="med" len="med"/>
                      <a:tailEnd type="none" w="med" len="med"/>
                    </a:lnT>
                    <a:lnB w="12700" cap="flat" cmpd="sng" algn="ctr">
                      <a:solidFill>
                        <a:srgbClr val="CBD4DC"/>
                      </a:solidFill>
                      <a:prstDash val="solid"/>
                      <a:round/>
                      <a:headEnd type="none" w="med" len="med"/>
                      <a:tailEnd type="none" w="med" len="med"/>
                    </a:lnB>
                    <a:solidFill>
                      <a:srgbClr val="14202B"/>
                    </a:solidFill>
                  </a:tcPr>
                </a:tc>
              </a:tr>
              <a:tr h="0">
                <a:tc>
                  <a:txBody>
                    <a:bodyPr/>
                    <a:lstStyle/>
                    <a:p>
                      <a:pPr marL="0" indent="0">
                        <a:buNone/>
                      </a:pPr>
                      <a:r>
                        <a:rPr lang="en-US" sz="1200" dirty="0">
                          <a:solidFill>
                            <a:srgbClr val="14202B"/>
                          </a:solidFill>
                          <a:latin typeface="Calibri" pitchFamily="34" charset="0"/>
                          <a:ea typeface="Calibri" pitchFamily="34" charset="-122"/>
                          <a:cs typeface="Calibri" pitchFamily="34" charset="-120"/>
                        </a:rPr>
                        <a:t>90% work, 70°C</a:t>
                      </a:r>
                      <a:endParaRPr lang="en-US" sz="1200" dirty="0">
                        <a:latin typeface="Calibri" pitchFamily="34" charset="0"/>
                        <a:ea typeface="Calibri" pitchFamily="34" charset="0"/>
                        <a:cs typeface="Calibri" pitchFamily="34" charset="0"/>
                      </a:endParaRPr>
                    </a:p>
                  </a:txBody>
                  <a:tcPr marL="54864" marR="54864" marT="54864" marB="54864" anchor="ctr">
                    <a:lnL w="12700" cap="flat" cmpd="sng" algn="ctr">
                      <a:solidFill>
                        <a:srgbClr val="CBD4DC"/>
                      </a:solidFill>
                      <a:prstDash val="solid"/>
                      <a:round/>
                      <a:headEnd type="none" w="med" len="med"/>
                      <a:tailEnd type="none" w="med" len="med"/>
                    </a:lnL>
                    <a:lnR w="12700" cap="flat" cmpd="sng" algn="ctr">
                      <a:solidFill>
                        <a:srgbClr val="CBD4DC"/>
                      </a:solidFill>
                      <a:prstDash val="solid"/>
                      <a:round/>
                      <a:headEnd type="none" w="med" len="med"/>
                      <a:tailEnd type="none" w="med" len="med"/>
                    </a:lnR>
                    <a:lnT w="12700" cap="flat" cmpd="sng" algn="ctr">
                      <a:solidFill>
                        <a:srgbClr val="CBD4DC"/>
                      </a:solidFill>
                      <a:prstDash val="solid"/>
                      <a:round/>
                      <a:headEnd type="none" w="med" len="med"/>
                      <a:tailEnd type="none" w="med" len="med"/>
                    </a:lnT>
                    <a:lnB w="12700" cap="flat" cmpd="sng" algn="ctr">
                      <a:solidFill>
                        <a:srgbClr val="CBD4DC"/>
                      </a:solidFill>
                      <a:prstDash val="solid"/>
                      <a:round/>
                      <a:headEnd type="none" w="med" len="med"/>
                      <a:tailEnd type="none" w="med" len="med"/>
                    </a:lnB>
                  </a:tcPr>
                </a:tc>
                <a:tc>
                  <a:txBody>
                    <a:bodyPr/>
                    <a:lstStyle/>
                    <a:p>
                      <a:pPr marL="0" indent="0">
                        <a:buNone/>
                      </a:pPr>
                      <a:r>
                        <a:rPr lang="en-US" sz="1200" b="1" dirty="0">
                          <a:solidFill>
                            <a:srgbClr val="C0392B"/>
                          </a:solidFill>
                          <a:latin typeface="Calibri" pitchFamily="34" charset="0"/>
                          <a:ea typeface="Calibri" pitchFamily="34" charset="-122"/>
                          <a:cs typeface="Calibri" pitchFamily="34" charset="-120"/>
                        </a:rPr>
                        <a:t>Rings. Wrong!</a:t>
                      </a:r>
                      <a:endParaRPr lang="en-US" sz="1200" dirty="0">
                        <a:latin typeface="Calibri" pitchFamily="34" charset="0"/>
                        <a:ea typeface="Calibri" pitchFamily="34" charset="0"/>
                        <a:cs typeface="Calibri" pitchFamily="34" charset="0"/>
                      </a:endParaRPr>
                    </a:p>
                  </a:txBody>
                  <a:tcPr marL="54864" marR="54864" marT="54864" marB="54864" anchor="ctr">
                    <a:lnL w="12700" cap="flat" cmpd="sng" algn="ctr">
                      <a:solidFill>
                        <a:srgbClr val="CBD4DC"/>
                      </a:solidFill>
                      <a:prstDash val="solid"/>
                      <a:round/>
                      <a:headEnd type="none" w="med" len="med"/>
                      <a:tailEnd type="none" w="med" len="med"/>
                    </a:lnL>
                    <a:lnR w="12700" cap="flat" cmpd="sng" algn="ctr">
                      <a:solidFill>
                        <a:srgbClr val="CBD4DC"/>
                      </a:solidFill>
                      <a:prstDash val="solid"/>
                      <a:round/>
                      <a:headEnd type="none" w="med" len="med"/>
                      <a:tailEnd type="none" w="med" len="med"/>
                    </a:lnR>
                    <a:lnT w="12700" cap="flat" cmpd="sng" algn="ctr">
                      <a:solidFill>
                        <a:srgbClr val="CBD4DC"/>
                      </a:solidFill>
                      <a:prstDash val="solid"/>
                      <a:round/>
                      <a:headEnd type="none" w="med" len="med"/>
                      <a:tailEnd type="none" w="med" len="med"/>
                    </a:lnT>
                    <a:lnB w="12700" cap="flat" cmpd="sng" algn="ctr">
                      <a:solidFill>
                        <a:srgbClr val="CBD4DC"/>
                      </a:solidFill>
                      <a:prstDash val="solid"/>
                      <a:round/>
                      <a:headEnd type="none" w="med" len="med"/>
                      <a:tailEnd type="none" w="med" len="med"/>
                    </a:lnB>
                  </a:tcPr>
                </a:tc>
                <a:tc>
                  <a:txBody>
                    <a:bodyPr/>
                    <a:lstStyle/>
                    <a:p>
                      <a:pPr marL="0" indent="0">
                        <a:buNone/>
                      </a:pPr>
                      <a:r>
                        <a:rPr lang="en-US" sz="1200" b="1" dirty="0">
                          <a:solidFill>
                            <a:srgbClr val="2E7D4F"/>
                          </a:solidFill>
                          <a:latin typeface="Calibri" pitchFamily="34" charset="0"/>
                          <a:ea typeface="Calibri" pitchFamily="34" charset="-122"/>
                          <a:cs typeface="Calibri" pitchFamily="34" charset="-120"/>
                        </a:rPr>
                        <a:t>Normal. Heat is expected.</a:t>
                      </a:r>
                      <a:endParaRPr lang="en-US" sz="1200" dirty="0">
                        <a:latin typeface="Calibri" pitchFamily="34" charset="0"/>
                        <a:ea typeface="Calibri" pitchFamily="34" charset="0"/>
                        <a:cs typeface="Calibri" pitchFamily="34" charset="0"/>
                      </a:endParaRPr>
                    </a:p>
                  </a:txBody>
                  <a:tcPr marL="54864" marR="54864" marT="54864" marB="54864" anchor="ctr">
                    <a:lnL w="12700" cap="flat" cmpd="sng" algn="ctr">
                      <a:solidFill>
                        <a:srgbClr val="CBD4DC"/>
                      </a:solidFill>
                      <a:prstDash val="solid"/>
                      <a:round/>
                      <a:headEnd type="none" w="med" len="med"/>
                      <a:tailEnd type="none" w="med" len="med"/>
                    </a:lnL>
                    <a:lnR w="12700" cap="flat" cmpd="sng" algn="ctr">
                      <a:solidFill>
                        <a:srgbClr val="CBD4DC"/>
                      </a:solidFill>
                      <a:prstDash val="solid"/>
                      <a:round/>
                      <a:headEnd type="none" w="med" len="med"/>
                      <a:tailEnd type="none" w="med" len="med"/>
                    </a:lnR>
                    <a:lnT w="12700" cap="flat" cmpd="sng" algn="ctr">
                      <a:solidFill>
                        <a:srgbClr val="CBD4DC"/>
                      </a:solidFill>
                      <a:prstDash val="solid"/>
                      <a:round/>
                      <a:headEnd type="none" w="med" len="med"/>
                      <a:tailEnd type="none" w="med" len="med"/>
                    </a:lnT>
                    <a:lnB w="12700" cap="flat" cmpd="sng" algn="ctr">
                      <a:solidFill>
                        <a:srgbClr val="CBD4DC"/>
                      </a:solidFill>
                      <a:prstDash val="solid"/>
                      <a:round/>
                      <a:headEnd type="none" w="med" len="med"/>
                      <a:tailEnd type="none" w="med" len="med"/>
                    </a:lnB>
                  </a:tcPr>
                </a:tc>
              </a:tr>
              <a:tr h="0">
                <a:tc>
                  <a:txBody>
                    <a:bodyPr/>
                    <a:lstStyle/>
                    <a:p>
                      <a:pPr marL="0" indent="0">
                        <a:buNone/>
                      </a:pPr>
                      <a:r>
                        <a:rPr lang="en-US" sz="1200" dirty="0">
                          <a:solidFill>
                            <a:srgbClr val="14202B"/>
                          </a:solidFill>
                          <a:latin typeface="Calibri" pitchFamily="34" charset="0"/>
                          <a:ea typeface="Calibri" pitchFamily="34" charset="-122"/>
                          <a:cs typeface="Calibri" pitchFamily="34" charset="-120"/>
                        </a:rPr>
                        <a:t>30% work, 70°C</a:t>
                      </a:r>
                      <a:endParaRPr lang="en-US" sz="1200" dirty="0">
                        <a:latin typeface="Calibri" pitchFamily="34" charset="0"/>
                        <a:ea typeface="Calibri" pitchFamily="34" charset="0"/>
                        <a:cs typeface="Calibri" pitchFamily="34" charset="0"/>
                      </a:endParaRPr>
                    </a:p>
                  </a:txBody>
                  <a:tcPr marL="54864" marR="54864" marT="54864" marB="54864" anchor="ctr">
                    <a:lnL w="12700" cap="flat" cmpd="sng" algn="ctr">
                      <a:solidFill>
                        <a:srgbClr val="CBD4DC"/>
                      </a:solidFill>
                      <a:prstDash val="solid"/>
                      <a:round/>
                      <a:headEnd type="none" w="med" len="med"/>
                      <a:tailEnd type="none" w="med" len="med"/>
                    </a:lnL>
                    <a:lnR w="12700" cap="flat" cmpd="sng" algn="ctr">
                      <a:solidFill>
                        <a:srgbClr val="CBD4DC"/>
                      </a:solidFill>
                      <a:prstDash val="solid"/>
                      <a:round/>
                      <a:headEnd type="none" w="med" len="med"/>
                      <a:tailEnd type="none" w="med" len="med"/>
                    </a:lnR>
                    <a:lnT w="12700" cap="flat" cmpd="sng" algn="ctr">
                      <a:solidFill>
                        <a:srgbClr val="CBD4DC"/>
                      </a:solidFill>
                      <a:prstDash val="solid"/>
                      <a:round/>
                      <a:headEnd type="none" w="med" len="med"/>
                      <a:tailEnd type="none" w="med" len="med"/>
                    </a:lnT>
                    <a:lnB w="12700" cap="flat" cmpd="sng" algn="ctr">
                      <a:solidFill>
                        <a:srgbClr val="CBD4DC"/>
                      </a:solidFill>
                      <a:prstDash val="solid"/>
                      <a:round/>
                      <a:headEnd type="none" w="med" len="med"/>
                      <a:tailEnd type="none" w="med" len="med"/>
                    </a:lnB>
                  </a:tcPr>
                </a:tc>
                <a:tc>
                  <a:txBody>
                    <a:bodyPr/>
                    <a:lstStyle/>
                    <a:p>
                      <a:pPr marL="0" indent="0">
                        <a:buNone/>
                      </a:pPr>
                      <a:r>
                        <a:rPr lang="en-US" sz="1200" dirty="0">
                          <a:solidFill>
                            <a:srgbClr val="566878"/>
                          </a:solidFill>
                          <a:latin typeface="Calibri" pitchFamily="34" charset="0"/>
                          <a:ea typeface="Calibri" pitchFamily="34" charset="-122"/>
                          <a:cs typeface="Calibri" pitchFamily="34" charset="-120"/>
                        </a:rPr>
                        <a:t>Rings</a:t>
                      </a:r>
                      <a:endParaRPr lang="en-US" sz="1200" dirty="0">
                        <a:latin typeface="Calibri" pitchFamily="34" charset="0"/>
                        <a:ea typeface="Calibri" pitchFamily="34" charset="0"/>
                        <a:cs typeface="Calibri" pitchFamily="34" charset="0"/>
                      </a:endParaRPr>
                    </a:p>
                  </a:txBody>
                  <a:tcPr marL="54864" marR="54864" marT="54864" marB="54864" anchor="ctr">
                    <a:lnL w="12700" cap="flat" cmpd="sng" algn="ctr">
                      <a:solidFill>
                        <a:srgbClr val="CBD4DC"/>
                      </a:solidFill>
                      <a:prstDash val="solid"/>
                      <a:round/>
                      <a:headEnd type="none" w="med" len="med"/>
                      <a:tailEnd type="none" w="med" len="med"/>
                    </a:lnL>
                    <a:lnR w="12700" cap="flat" cmpd="sng" algn="ctr">
                      <a:solidFill>
                        <a:srgbClr val="CBD4DC"/>
                      </a:solidFill>
                      <a:prstDash val="solid"/>
                      <a:round/>
                      <a:headEnd type="none" w="med" len="med"/>
                      <a:tailEnd type="none" w="med" len="med"/>
                    </a:lnR>
                    <a:lnT w="12700" cap="flat" cmpd="sng" algn="ctr">
                      <a:solidFill>
                        <a:srgbClr val="CBD4DC"/>
                      </a:solidFill>
                      <a:prstDash val="solid"/>
                      <a:round/>
                      <a:headEnd type="none" w="med" len="med"/>
                      <a:tailEnd type="none" w="med" len="med"/>
                    </a:lnT>
                    <a:lnB w="12700" cap="flat" cmpd="sng" algn="ctr">
                      <a:solidFill>
                        <a:srgbClr val="CBD4DC"/>
                      </a:solidFill>
                      <a:prstDash val="solid"/>
                      <a:round/>
                      <a:headEnd type="none" w="med" len="med"/>
                      <a:tailEnd type="none" w="med" len="med"/>
                    </a:lnB>
                  </a:tcPr>
                </a:tc>
                <a:tc>
                  <a:txBody>
                    <a:bodyPr/>
                    <a:lstStyle/>
                    <a:p>
                      <a:pPr marL="0" indent="0">
                        <a:buNone/>
                      </a:pPr>
                      <a:r>
                        <a:rPr lang="en-US" sz="1200" b="1" dirty="0">
                          <a:solidFill>
                            <a:srgbClr val="B9820A"/>
                          </a:solidFill>
                          <a:latin typeface="Calibri" pitchFamily="34" charset="0"/>
                          <a:ea typeface="Calibri" pitchFamily="34" charset="-122"/>
                          <a:cs typeface="Calibri" pitchFamily="34" charset="-120"/>
                        </a:rPr>
                        <a:t>Warning. Too hot for light work.</a:t>
                      </a:r>
                      <a:endParaRPr lang="en-US" sz="1200" dirty="0">
                        <a:latin typeface="Calibri" pitchFamily="34" charset="0"/>
                        <a:ea typeface="Calibri" pitchFamily="34" charset="0"/>
                        <a:cs typeface="Calibri" pitchFamily="34" charset="0"/>
                      </a:endParaRPr>
                    </a:p>
                  </a:txBody>
                  <a:tcPr marL="54864" marR="54864" marT="54864" marB="54864" anchor="ctr">
                    <a:lnL w="12700" cap="flat" cmpd="sng" algn="ctr">
                      <a:solidFill>
                        <a:srgbClr val="CBD4DC"/>
                      </a:solidFill>
                      <a:prstDash val="solid"/>
                      <a:round/>
                      <a:headEnd type="none" w="med" len="med"/>
                      <a:tailEnd type="none" w="med" len="med"/>
                    </a:lnL>
                    <a:lnR w="12700" cap="flat" cmpd="sng" algn="ctr">
                      <a:solidFill>
                        <a:srgbClr val="CBD4DC"/>
                      </a:solidFill>
                      <a:prstDash val="solid"/>
                      <a:round/>
                      <a:headEnd type="none" w="med" len="med"/>
                      <a:tailEnd type="none" w="med" len="med"/>
                    </a:lnR>
                    <a:lnT w="12700" cap="flat" cmpd="sng" algn="ctr">
                      <a:solidFill>
                        <a:srgbClr val="CBD4DC"/>
                      </a:solidFill>
                      <a:prstDash val="solid"/>
                      <a:round/>
                      <a:headEnd type="none" w="med" len="med"/>
                      <a:tailEnd type="none" w="med" len="med"/>
                    </a:lnT>
                    <a:lnB w="12700" cap="flat" cmpd="sng" algn="ctr">
                      <a:solidFill>
                        <a:srgbClr val="CBD4DC"/>
                      </a:solidFill>
                      <a:prstDash val="solid"/>
                      <a:round/>
                      <a:headEnd type="none" w="med" len="med"/>
                      <a:tailEnd type="none" w="med" len="med"/>
                    </a:lnB>
                  </a:tcPr>
                </a:tc>
              </a:tr>
            </a:tbl>
          </a:graphicData>
        </a:graphic>
      </p:graphicFrame>
      <p:sp>
        <p:nvSpPr>
          <p:cNvPr id="23" name="Text 20"/>
          <p:cNvSpPr txBox="1"/>
          <p:nvPr/>
        </p:nvSpPr>
        <p:spPr>
          <a:xfrm>
            <a:off x="5440680" y="3749040"/>
            <a:ext cx="3063240" cy="822960"/>
          </a:xfrm>
          <a:prstGeom prst="rect">
            <a:avLst/>
          </a:prstGeom>
          <a:noFill/>
        </p:spPr>
        <p:txBody>
          <a:bodyPr wrap="square" lIns="0" tIns="0" rIns="0" bIns="0" rtlCol="0" anchor="t"/>
          <a:lstStyle/>
          <a:p>
            <a:pPr marL="0" indent="0">
              <a:buNone/>
            </a:pPr>
            <a:r>
              <a:rPr lang="en-US" sz="1300" i="1" dirty="0">
                <a:solidFill>
                  <a:srgbClr val="566878"/>
                </a:solidFill>
                <a:latin typeface="Calibri" pitchFamily="34" charset="0"/>
                <a:ea typeface="Calibri" pitchFamily="34" charset="-122"/>
                <a:cs typeface="Calibri" pitchFamily="34" charset="-120"/>
              </a:rPr>
              <a:t>Same temperature. The fixed alarm cannot tell the difference. Spindle Nadi can.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EF1F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7F82"/>
          </a:solidFill>
        </p:spPr>
      </p:sp>
      <p:sp>
        <p:nvSpPr>
          <p:cNvPr id="3" name="Text 1"/>
          <p:cNvSpPr txBox="1"/>
          <p:nvPr/>
        </p:nvSpPr>
        <p:spPr>
          <a:xfrm>
            <a:off x="502920" y="228600"/>
            <a:ext cx="5852160" cy="502920"/>
          </a:xfrm>
          <a:prstGeom prst="rect">
            <a:avLst/>
          </a:prstGeom>
          <a:noFill/>
        </p:spPr>
        <p:txBody>
          <a:bodyPr wrap="square" lIns="0" tIns="0" rIns="0" bIns="0" rtlCol="0" anchor="ctr"/>
          <a:lstStyle/>
          <a:p>
            <a:pPr marL="0" indent="0">
              <a:buNone/>
            </a:pPr>
            <a:r>
              <a:rPr lang="en-US" sz="2800" b="1" dirty="0">
                <a:solidFill>
                  <a:srgbClr val="14202B"/>
                </a:solidFill>
                <a:latin typeface="Calibri" pitchFamily="34" charset="0"/>
                <a:ea typeface="Calibri" pitchFamily="34" charset="-122"/>
                <a:cs typeface="Calibri" pitchFamily="34" charset="-120"/>
              </a:rPr>
              <a:t>2. Approach and technical feasibility</a:t>
            </a:r>
            <a:endParaRPr lang="en-US" sz="2800" dirty="0"/>
          </a:p>
        </p:txBody>
      </p:sp>
      <p:sp>
        <p:nvSpPr>
          <p:cNvPr id="4" name="Text 2"/>
          <p:cNvSpPr txBox="1"/>
          <p:nvPr/>
        </p:nvSpPr>
        <p:spPr>
          <a:xfrm>
            <a:off x="502920" y="822960"/>
            <a:ext cx="5852160" cy="320040"/>
          </a:xfrm>
          <a:prstGeom prst="rect">
            <a:avLst/>
          </a:prstGeom>
          <a:noFill/>
        </p:spPr>
        <p:txBody>
          <a:bodyPr wrap="square" lIns="0" tIns="0" rIns="0" bIns="0" rtlCol="0" anchor="ctr"/>
          <a:lstStyle/>
          <a:p>
            <a:pPr marL="0" indent="0">
              <a:buNone/>
            </a:pPr>
            <a:r>
              <a:rPr lang="en-US" sz="1400" dirty="0">
                <a:solidFill>
                  <a:srgbClr val="566878"/>
                </a:solidFill>
                <a:latin typeface="Calibri" pitchFamily="34" charset="0"/>
                <a:ea typeface="Calibri" pitchFamily="34" charset="-122"/>
                <a:cs typeface="Calibri" pitchFamily="34" charset="-120"/>
              </a:rPr>
              <a:t>Simple pipeline. Common Python tools. We can build it.</a:t>
            </a:r>
            <a:endParaRPr lang="en-US" sz="1400" dirty="0"/>
          </a:p>
        </p:txBody>
      </p:sp>
      <p:sp>
        <p:nvSpPr>
          <p:cNvPr id="5" name="Shape 3"/>
          <p:cNvSpPr/>
          <p:nvPr/>
        </p:nvSpPr>
        <p:spPr>
          <a:xfrm>
            <a:off x="6400800" y="274320"/>
            <a:ext cx="2286000" cy="731520"/>
          </a:xfrm>
          <a:prstGeom prst="roundRect">
            <a:avLst>
              <a:gd name="adj" fmla="val 10000"/>
            </a:avLst>
          </a:prstGeom>
          <a:solidFill>
            <a:srgbClr val="14202B"/>
          </a:solidFill>
        </p:spPr>
      </p:sp>
      <p:sp>
        <p:nvSpPr>
          <p:cNvPr id="6" name="Text 4"/>
          <p:cNvSpPr txBox="1"/>
          <p:nvPr/>
        </p:nvSpPr>
        <p:spPr>
          <a:xfrm>
            <a:off x="6537960" y="329184"/>
            <a:ext cx="2057400" cy="640080"/>
          </a:xfrm>
          <a:prstGeom prst="rect">
            <a:avLst/>
          </a:prstGeom>
          <a:noFill/>
        </p:spPr>
        <p:txBody>
          <a:bodyPr wrap="square" lIns="0" tIns="0" rIns="0" bIns="0" rtlCol="0" anchor="ctr"/>
          <a:lstStyle/>
          <a:p>
            <a:pPr marL="0" indent="0">
              <a:buNone/>
            </a:pPr>
            <a:r>
              <a:rPr lang="en-US" sz="1100" dirty="0">
                <a:solidFill>
                  <a:srgbClr val="9FD8DA"/>
                </a:solidFill>
                <a:latin typeface="Calibri" pitchFamily="34" charset="0"/>
                <a:ea typeface="Calibri" pitchFamily="34" charset="-122"/>
                <a:cs typeface="Calibri" pitchFamily="34" charset="-120"/>
              </a:rPr>
              <a:t>Speaking</a:t>
            </a:r>
            <a:endParaRPr lang="en-US" sz="1100" dirty="0"/>
          </a:p>
          <a:p>
            <a:pPr marL="0" indent="0">
              <a:buNone/>
            </a:pPr>
            <a:r>
              <a:rPr lang="en-US" sz="1300" b="1" dirty="0">
                <a:solidFill>
                  <a:srgbClr val="FFFFFF"/>
                </a:solidFill>
                <a:latin typeface="Calibri" pitchFamily="34" charset="0"/>
                <a:ea typeface="Calibri" pitchFamily="34" charset="-122"/>
                <a:cs typeface="Calibri" pitchFamily="34" charset="-120"/>
              </a:rPr>
              <a:t>Raushan Ali + Aakash Barnawal</a:t>
            </a:r>
            <a:endParaRPr lang="en-US" sz="1100" dirty="0"/>
          </a:p>
        </p:txBody>
      </p:sp>
      <p:sp>
        <p:nvSpPr>
          <p:cNvPr id="7" name="Text 5"/>
          <p:cNvSpPr txBox="1"/>
          <p:nvPr/>
        </p:nvSpPr>
        <p:spPr>
          <a:xfrm>
            <a:off x="502920" y="4828032"/>
            <a:ext cx="8229600" cy="228600"/>
          </a:xfrm>
          <a:prstGeom prst="rect">
            <a:avLst/>
          </a:prstGeom>
          <a:noFill/>
        </p:spPr>
        <p:txBody>
          <a:bodyPr wrap="square" lIns="0" tIns="0" rIns="0" bIns="0" rtlCol="0" anchor="ctr"/>
          <a:lstStyle/>
          <a:p>
            <a:pPr marL="0" indent="0">
              <a:buNone/>
            </a:pPr>
            <a:r>
              <a:rPr lang="en-US" sz="1000" dirty="0">
                <a:solidFill>
                  <a:srgbClr val="566878"/>
                </a:solidFill>
                <a:latin typeface="Calibri" pitchFamily="34" charset="0"/>
                <a:ea typeface="Calibri" pitchFamily="34" charset="-122"/>
                <a:cs typeface="Calibri" pitchFamily="34" charset="-120"/>
              </a:rPr>
              <a:t>Spindle Nadi: predicting the machine’s "Last Good Hour"   |  </a:t>
            </a:r>
            <a:endParaRPr lang="en-US" sz="1000" dirty="0"/>
          </a:p>
        </p:txBody>
      </p:sp>
      <p:sp>
        <p:nvSpPr>
          <p:cNvPr id="8" name="Shape 6"/>
          <p:cNvSpPr/>
          <p:nvPr/>
        </p:nvSpPr>
        <p:spPr>
          <a:xfrm>
            <a:off x="502920" y="1234440"/>
            <a:ext cx="1920240" cy="1234440"/>
          </a:xfrm>
          <a:prstGeom prst="rect">
            <a:avLst/>
          </a:prstGeom>
          <a:solidFill>
            <a:srgbClr val="14202B"/>
          </a:solidFill>
        </p:spPr>
      </p:sp>
      <p:sp>
        <p:nvSpPr>
          <p:cNvPr id="9" name="Text 7"/>
          <p:cNvSpPr txBox="1"/>
          <p:nvPr/>
        </p:nvSpPr>
        <p:spPr>
          <a:xfrm>
            <a:off x="612648" y="1307592"/>
            <a:ext cx="1737360" cy="274320"/>
          </a:xfrm>
          <a:prstGeom prst="rect">
            <a:avLst/>
          </a:prstGeom>
          <a:noFill/>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1. Make data</a:t>
            </a:r>
            <a:endParaRPr lang="en-US" sz="1500" dirty="0"/>
          </a:p>
        </p:txBody>
      </p:sp>
      <p:sp>
        <p:nvSpPr>
          <p:cNvPr id="10" name="Text 8"/>
          <p:cNvSpPr txBox="1"/>
          <p:nvPr/>
        </p:nvSpPr>
        <p:spPr>
          <a:xfrm>
            <a:off x="612648" y="1645920"/>
            <a:ext cx="1737360" cy="777240"/>
          </a:xfrm>
          <a:prstGeom prst="rect">
            <a:avLst/>
          </a:prstGeom>
          <a:noFill/>
        </p:spPr>
        <p:txBody>
          <a:bodyPr wrap="square" lIns="0" tIns="0" rIns="0" bIns="0" rtlCol="0" anchor="t"/>
          <a:lstStyle/>
          <a:p>
            <a:pPr marL="0" indent="0">
              <a:buNone/>
            </a:pPr>
            <a:r>
              <a:rPr lang="en-US" sz="1200" dirty="0">
                <a:solidFill>
                  <a:srgbClr val="D5E3EC"/>
                </a:solidFill>
                <a:latin typeface="Calibri" pitchFamily="34" charset="0"/>
                <a:ea typeface="Calibri" pitchFamily="34" charset="-122"/>
                <a:cs typeface="Calibri" pitchFamily="34" charset="-120"/>
              </a:rPr>
              <a:t>Simulator makes 3 states: Normal, Getting Worse, Near Failure</a:t>
            </a:r>
            <a:endParaRPr lang="en-US" sz="1200" dirty="0"/>
          </a:p>
        </p:txBody>
      </p:sp>
      <p:sp>
        <p:nvSpPr>
          <p:cNvPr id="11" name="Shape 9"/>
          <p:cNvSpPr/>
          <p:nvPr/>
        </p:nvSpPr>
        <p:spPr>
          <a:xfrm>
            <a:off x="2569464" y="1234440"/>
            <a:ext cx="1920240" cy="1234440"/>
          </a:xfrm>
          <a:prstGeom prst="rect">
            <a:avLst/>
          </a:prstGeom>
          <a:solidFill>
            <a:srgbClr val="14202B"/>
          </a:solidFill>
        </p:spPr>
      </p:sp>
      <p:sp>
        <p:nvSpPr>
          <p:cNvPr id="12" name="Text 10"/>
          <p:cNvSpPr txBox="1"/>
          <p:nvPr/>
        </p:nvSpPr>
        <p:spPr>
          <a:xfrm>
            <a:off x="2679192" y="1307592"/>
            <a:ext cx="1737360" cy="274320"/>
          </a:xfrm>
          <a:prstGeom prst="rect">
            <a:avLst/>
          </a:prstGeom>
          <a:noFill/>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2. Fix for workload</a:t>
            </a:r>
            <a:endParaRPr lang="en-US" sz="1500" dirty="0"/>
          </a:p>
        </p:txBody>
      </p:sp>
      <p:sp>
        <p:nvSpPr>
          <p:cNvPr id="13" name="Text 11"/>
          <p:cNvSpPr txBox="1"/>
          <p:nvPr/>
        </p:nvSpPr>
        <p:spPr>
          <a:xfrm>
            <a:off x="2679192" y="1645920"/>
            <a:ext cx="1737360" cy="777240"/>
          </a:xfrm>
          <a:prstGeom prst="rect">
            <a:avLst/>
          </a:prstGeom>
          <a:noFill/>
        </p:spPr>
        <p:txBody>
          <a:bodyPr wrap="square" lIns="0" tIns="0" rIns="0" bIns="0" rtlCol="0" anchor="t"/>
          <a:lstStyle/>
          <a:p>
            <a:pPr marL="0" indent="0">
              <a:buNone/>
            </a:pPr>
            <a:r>
              <a:rPr lang="en-US" sz="1200" dirty="0">
                <a:solidFill>
                  <a:srgbClr val="D5E3EC"/>
                </a:solidFill>
                <a:latin typeface="Calibri" pitchFamily="34" charset="0"/>
                <a:ea typeface="Calibri" pitchFamily="34" charset="-122"/>
                <a:cs typeface="Calibri" pitchFamily="34" charset="-120"/>
              </a:rPr>
              <a:t>Hard work is not a fault. Fewer false alarms</a:t>
            </a:r>
            <a:endParaRPr lang="en-US" sz="1200" dirty="0"/>
          </a:p>
        </p:txBody>
      </p:sp>
      <p:sp>
        <p:nvSpPr>
          <p:cNvPr id="14" name="Shape 12"/>
          <p:cNvSpPr/>
          <p:nvPr/>
        </p:nvSpPr>
        <p:spPr>
          <a:xfrm>
            <a:off x="4636008" y="1234440"/>
            <a:ext cx="1920240" cy="1234440"/>
          </a:xfrm>
          <a:prstGeom prst="rect">
            <a:avLst/>
          </a:prstGeom>
          <a:solidFill>
            <a:srgbClr val="14202B"/>
          </a:solidFill>
        </p:spPr>
      </p:sp>
      <p:sp>
        <p:nvSpPr>
          <p:cNvPr id="15" name="Text 13"/>
          <p:cNvSpPr txBox="1"/>
          <p:nvPr/>
        </p:nvSpPr>
        <p:spPr>
          <a:xfrm>
            <a:off x="4745736" y="1307592"/>
            <a:ext cx="1737360" cy="274320"/>
          </a:xfrm>
          <a:prstGeom prst="rect">
            <a:avLst/>
          </a:prstGeom>
          <a:noFill/>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3. AI checks</a:t>
            </a:r>
            <a:endParaRPr lang="en-US" sz="1500" dirty="0"/>
          </a:p>
        </p:txBody>
      </p:sp>
      <p:sp>
        <p:nvSpPr>
          <p:cNvPr id="16" name="Text 14"/>
          <p:cNvSpPr txBox="1"/>
          <p:nvPr/>
        </p:nvSpPr>
        <p:spPr>
          <a:xfrm>
            <a:off x="4745736" y="1645920"/>
            <a:ext cx="1737360" cy="777240"/>
          </a:xfrm>
          <a:prstGeom prst="rect">
            <a:avLst/>
          </a:prstGeom>
          <a:noFill/>
        </p:spPr>
        <p:txBody>
          <a:bodyPr wrap="square" lIns="0" tIns="0" rIns="0" bIns="0" rtlCol="0" anchor="t"/>
          <a:lstStyle/>
          <a:p>
            <a:pPr marL="0" indent="0">
              <a:buNone/>
            </a:pPr>
            <a:r>
              <a:rPr lang="en-US" sz="1200" dirty="0">
                <a:solidFill>
                  <a:srgbClr val="D5E3EC"/>
                </a:solidFill>
                <a:latin typeface="Calibri" pitchFamily="34" charset="0"/>
                <a:ea typeface="Calibri" pitchFamily="34" charset="-122"/>
                <a:cs typeface="Calibri" pitchFamily="34" charset="-120"/>
              </a:rPr>
              <a:t>Isolation Forest finds odd signals. XGBoost gives a risk score</a:t>
            </a:r>
            <a:endParaRPr lang="en-US" sz="1200" dirty="0"/>
          </a:p>
        </p:txBody>
      </p:sp>
      <p:sp>
        <p:nvSpPr>
          <p:cNvPr id="17" name="Shape 15"/>
          <p:cNvSpPr/>
          <p:nvPr/>
        </p:nvSpPr>
        <p:spPr>
          <a:xfrm>
            <a:off x="6702552" y="1234440"/>
            <a:ext cx="1920240" cy="1234440"/>
          </a:xfrm>
          <a:prstGeom prst="rect">
            <a:avLst/>
          </a:prstGeom>
          <a:solidFill>
            <a:srgbClr val="14202B"/>
          </a:solidFill>
        </p:spPr>
      </p:sp>
      <p:sp>
        <p:nvSpPr>
          <p:cNvPr id="18" name="Text 16"/>
          <p:cNvSpPr txBox="1"/>
          <p:nvPr/>
        </p:nvSpPr>
        <p:spPr>
          <a:xfrm>
            <a:off x="6812280" y="1307592"/>
            <a:ext cx="1737360" cy="274320"/>
          </a:xfrm>
          <a:prstGeom prst="rect">
            <a:avLst/>
          </a:prstGeom>
          <a:noFill/>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4. Show result</a:t>
            </a:r>
            <a:endParaRPr lang="en-US" sz="1500" dirty="0"/>
          </a:p>
        </p:txBody>
      </p:sp>
      <p:sp>
        <p:nvSpPr>
          <p:cNvPr id="19" name="Text 17"/>
          <p:cNvSpPr txBox="1"/>
          <p:nvPr/>
        </p:nvSpPr>
        <p:spPr>
          <a:xfrm>
            <a:off x="6812280" y="1645920"/>
            <a:ext cx="1737360" cy="777240"/>
          </a:xfrm>
          <a:prstGeom prst="rect">
            <a:avLst/>
          </a:prstGeom>
          <a:noFill/>
        </p:spPr>
        <p:txBody>
          <a:bodyPr wrap="square" lIns="0" tIns="0" rIns="0" bIns="0" rtlCol="0" anchor="t"/>
          <a:lstStyle/>
          <a:p>
            <a:pPr marL="0" indent="0">
              <a:buNone/>
            </a:pPr>
            <a:r>
              <a:rPr lang="en-US" sz="1200" dirty="0">
                <a:solidFill>
                  <a:srgbClr val="D5E3EC"/>
                </a:solidFill>
                <a:latin typeface="Calibri" pitchFamily="34" charset="0"/>
                <a:ea typeface="Calibri" pitchFamily="34" charset="-122"/>
                <a:cs typeface="Calibri" pitchFamily="34" charset="-120"/>
              </a:rPr>
              <a:t>Risk 0-40% Normal, 40-70% Warning, 70-100% Critical</a:t>
            </a:r>
            <a:endParaRPr lang="en-US" sz="1200" dirty="0"/>
          </a:p>
        </p:txBody>
      </p:sp>
      <p:sp>
        <p:nvSpPr>
          <p:cNvPr id="20" name="Shape 18"/>
          <p:cNvSpPr/>
          <p:nvPr/>
        </p:nvSpPr>
        <p:spPr>
          <a:xfrm>
            <a:off x="502920" y="2651760"/>
            <a:ext cx="2651760" cy="1920240"/>
          </a:xfrm>
          <a:prstGeom prst="rect">
            <a:avLst/>
          </a:prstGeom>
          <a:solidFill>
            <a:srgbClr val="FFFFFF"/>
          </a:solidFill>
          <a:ln w="12700">
            <a:solidFill>
              <a:srgbClr val="CBD4DC"/>
            </a:solidFill>
            <a:prstDash val="solid"/>
          </a:ln>
        </p:spPr>
      </p:sp>
      <p:sp>
        <p:nvSpPr>
          <p:cNvPr id="21" name="Shape 19"/>
          <p:cNvSpPr/>
          <p:nvPr/>
        </p:nvSpPr>
        <p:spPr>
          <a:xfrm>
            <a:off x="502920" y="2651760"/>
            <a:ext cx="64008" cy="1920240"/>
          </a:xfrm>
          <a:prstGeom prst="rect">
            <a:avLst/>
          </a:prstGeom>
          <a:solidFill>
            <a:srgbClr val="0F7F82"/>
          </a:solidFill>
        </p:spPr>
      </p:sp>
      <p:sp>
        <p:nvSpPr>
          <p:cNvPr id="22" name="Text 20"/>
          <p:cNvSpPr txBox="1"/>
          <p:nvPr/>
        </p:nvSpPr>
        <p:spPr>
          <a:xfrm>
            <a:off x="685800" y="2743200"/>
            <a:ext cx="2331720" cy="292608"/>
          </a:xfrm>
          <a:prstGeom prst="rect">
            <a:avLst/>
          </a:prstGeom>
          <a:noFill/>
        </p:spPr>
        <p:txBody>
          <a:bodyPr wrap="square" lIns="0" tIns="0" rIns="0" bIns="0" rtlCol="0" anchor="ctr"/>
          <a:lstStyle/>
          <a:p>
            <a:pPr marL="0" indent="0">
              <a:buNone/>
            </a:pPr>
            <a:r>
              <a:rPr lang="en-US" sz="1600" b="1" dirty="0">
                <a:solidFill>
                  <a:srgbClr val="14202B"/>
                </a:solidFill>
                <a:latin typeface="Calibri" pitchFamily="34" charset="0"/>
                <a:ea typeface="Calibri" pitchFamily="34" charset="-122"/>
                <a:cs typeface="Calibri" pitchFamily="34" charset="-120"/>
              </a:rPr>
              <a:t>Real standard: ISO 10816</a:t>
            </a:r>
            <a:endParaRPr lang="en-US" sz="1600" dirty="0"/>
          </a:p>
        </p:txBody>
      </p:sp>
      <p:sp>
        <p:nvSpPr>
          <p:cNvPr id="23" name="Text 21"/>
          <p:cNvSpPr txBox="1"/>
          <p:nvPr/>
        </p:nvSpPr>
        <p:spPr>
          <a:xfrm>
            <a:off x="640080" y="3200400"/>
            <a:ext cx="2331720" cy="1463040"/>
          </a:xfrm>
          <a:prstGeom prst="rect">
            <a:avLst/>
          </a:prstGeom>
          <a:noFill/>
        </p:spPr>
        <p:txBody>
          <a:bodyPr wrap="square" lIns="0" tIns="0" rIns="0" bIns="0" rtlCol="0" anchor="t"/>
          <a:lstStyle/>
          <a:p>
            <a:pPr marL="0" indent="0">
              <a:buNone/>
            </a:pPr>
            <a:r>
              <a:rPr lang="en-US" sz="1300" dirty="0">
                <a:solidFill>
                  <a:srgbClr val="566878"/>
                </a:solidFill>
                <a:latin typeface="Calibri" pitchFamily="34" charset="0"/>
                <a:ea typeface="Calibri" pitchFamily="34" charset="-122"/>
                <a:cs typeface="Calibri" pitchFamily="34" charset="-120"/>
              </a:rPr>
              <a:t>Shaking speed (mm/s), small machine:</a:t>
            </a:r>
            <a:endParaRPr lang="en-US" sz="1300" dirty="0"/>
          </a:p>
          <a:p>
            <a:pPr marL="0" indent="0">
              <a:buNone/>
            </a:pPr>
            <a:r>
              <a:rPr lang="en-US" sz="1300" dirty="0">
                <a:solidFill>
                  <a:srgbClr val="566878"/>
                </a:solidFill>
                <a:latin typeface="Calibri" pitchFamily="34" charset="0"/>
                <a:ea typeface="Calibri" pitchFamily="34" charset="-122"/>
                <a:cs typeface="Calibri" pitchFamily="34" charset="-120"/>
              </a:rPr>
              <a:t>Under 1.8 = Normal</a:t>
            </a:r>
            <a:endParaRPr lang="en-US" sz="1300" dirty="0"/>
          </a:p>
          <a:p>
            <a:pPr marL="0" indent="0">
              <a:buNone/>
            </a:pPr>
            <a:r>
              <a:rPr lang="en-US" sz="1300" dirty="0">
                <a:solidFill>
                  <a:srgbClr val="566878"/>
                </a:solidFill>
                <a:latin typeface="Calibri" pitchFamily="34" charset="0"/>
                <a:ea typeface="Calibri" pitchFamily="34" charset="-122"/>
                <a:cs typeface="Calibri" pitchFamily="34" charset="-120"/>
              </a:rPr>
              <a:t>1.8 to 4.5 = Warning</a:t>
            </a:r>
            <a:endParaRPr lang="en-US" sz="1300" dirty="0"/>
          </a:p>
          <a:p>
            <a:pPr marL="0" indent="0">
              <a:buNone/>
            </a:pPr>
            <a:r>
              <a:rPr lang="en-US" sz="1300" dirty="0">
                <a:solidFill>
                  <a:srgbClr val="566878"/>
                </a:solidFill>
                <a:latin typeface="Calibri" pitchFamily="34" charset="0"/>
                <a:ea typeface="Calibri" pitchFamily="34" charset="-122"/>
                <a:cs typeface="Calibri" pitchFamily="34" charset="-120"/>
              </a:rPr>
              <a:t>Over 4.5 = Critical</a:t>
            </a:r>
            <a:endParaRPr lang="en-US" sz="1300" dirty="0"/>
          </a:p>
        </p:txBody>
      </p:sp>
      <p:sp>
        <p:nvSpPr>
          <p:cNvPr id="24" name="Shape 22"/>
          <p:cNvSpPr/>
          <p:nvPr/>
        </p:nvSpPr>
        <p:spPr>
          <a:xfrm>
            <a:off x="3246120" y="2651760"/>
            <a:ext cx="2651760" cy="1920240"/>
          </a:xfrm>
          <a:prstGeom prst="rect">
            <a:avLst/>
          </a:prstGeom>
          <a:solidFill>
            <a:srgbClr val="FFFFFF"/>
          </a:solidFill>
          <a:ln w="12700">
            <a:solidFill>
              <a:srgbClr val="CBD4DC"/>
            </a:solidFill>
            <a:prstDash val="solid"/>
          </a:ln>
        </p:spPr>
      </p:sp>
      <p:sp>
        <p:nvSpPr>
          <p:cNvPr id="25" name="Shape 23"/>
          <p:cNvSpPr/>
          <p:nvPr/>
        </p:nvSpPr>
        <p:spPr>
          <a:xfrm>
            <a:off x="3246120" y="2651760"/>
            <a:ext cx="64008" cy="1920240"/>
          </a:xfrm>
          <a:prstGeom prst="rect">
            <a:avLst/>
          </a:prstGeom>
          <a:solidFill>
            <a:srgbClr val="0F7F82"/>
          </a:solidFill>
        </p:spPr>
      </p:sp>
      <p:sp>
        <p:nvSpPr>
          <p:cNvPr id="26" name="Text 24"/>
          <p:cNvSpPr txBox="1"/>
          <p:nvPr/>
        </p:nvSpPr>
        <p:spPr>
          <a:xfrm>
            <a:off x="3429000" y="2743200"/>
            <a:ext cx="2331720" cy="292608"/>
          </a:xfrm>
          <a:prstGeom prst="rect">
            <a:avLst/>
          </a:prstGeom>
          <a:noFill/>
        </p:spPr>
        <p:txBody>
          <a:bodyPr wrap="square" lIns="0" tIns="0" rIns="0" bIns="0" rtlCol="0" anchor="ctr"/>
          <a:lstStyle/>
          <a:p>
            <a:pPr marL="0" indent="0">
              <a:buNone/>
            </a:pPr>
            <a:r>
              <a:rPr lang="en-US" sz="1600" b="1" dirty="0">
                <a:solidFill>
                  <a:srgbClr val="14202B"/>
                </a:solidFill>
                <a:latin typeface="Calibri" pitchFamily="34" charset="0"/>
                <a:ea typeface="Calibri" pitchFamily="34" charset="-122"/>
                <a:cs typeface="Calibri" pitchFamily="34" charset="-120"/>
              </a:rPr>
              <a:t>Tells you WHY</a:t>
            </a:r>
            <a:endParaRPr lang="en-US" sz="1600" dirty="0"/>
          </a:p>
        </p:txBody>
      </p:sp>
      <p:sp>
        <p:nvSpPr>
          <p:cNvPr id="27" name="Text 25"/>
          <p:cNvSpPr txBox="1"/>
          <p:nvPr/>
        </p:nvSpPr>
        <p:spPr>
          <a:xfrm>
            <a:off x="3429000" y="3063240"/>
            <a:ext cx="2331720" cy="1463040"/>
          </a:xfrm>
          <a:prstGeom prst="rect">
            <a:avLst/>
          </a:prstGeom>
          <a:noFill/>
        </p:spPr>
        <p:txBody>
          <a:bodyPr wrap="square" lIns="0" tIns="0" rIns="0" bIns="0" rtlCol="0" anchor="t"/>
          <a:lstStyle/>
          <a:p>
            <a:pPr marL="0" indent="0">
              <a:buNone/>
            </a:pPr>
            <a:r>
              <a:rPr lang="en-US" sz="1300" dirty="0">
                <a:solidFill>
                  <a:srgbClr val="566878"/>
                </a:solidFill>
                <a:latin typeface="Calibri" pitchFamily="34" charset="0"/>
                <a:ea typeface="Calibri" pitchFamily="34" charset="-122"/>
                <a:cs typeface="Calibri" pitchFamily="34" charset="-120"/>
              </a:rPr>
              <a:t>Example result:</a:t>
            </a:r>
            <a:endParaRPr lang="en-US" sz="1300" dirty="0"/>
          </a:p>
          <a:p>
            <a:pPr marL="0" indent="0">
              <a:buNone/>
            </a:pPr>
            <a:r>
              <a:rPr lang="en-US" sz="1300" dirty="0">
                <a:solidFill>
                  <a:srgbClr val="566878"/>
                </a:solidFill>
                <a:latin typeface="Calibri" pitchFamily="34" charset="0"/>
                <a:ea typeface="Calibri" pitchFamily="34" charset="-122"/>
                <a:cs typeface="Calibri" pitchFamily="34" charset="-120"/>
              </a:rPr>
              <a:t>Risk 78% = Critical</a:t>
            </a:r>
            <a:endParaRPr lang="en-US" sz="1300" dirty="0"/>
          </a:p>
          <a:p>
            <a:pPr marL="0" indent="0">
              <a:buNone/>
            </a:pPr>
            <a:r>
              <a:rPr lang="en-US" sz="1300" dirty="0">
                <a:solidFill>
                  <a:srgbClr val="566878"/>
                </a:solidFill>
                <a:latin typeface="Calibri" pitchFamily="34" charset="0"/>
                <a:ea typeface="Calibri" pitchFamily="34" charset="-122"/>
                <a:cs typeface="Calibri" pitchFamily="34" charset="-120"/>
              </a:rPr>
              <a:t>52% of risk: bearing shaking</a:t>
            </a:r>
            <a:endParaRPr lang="en-US" sz="1300" dirty="0"/>
          </a:p>
          <a:p>
            <a:pPr marL="0" indent="0">
              <a:buNone/>
            </a:pPr>
            <a:r>
              <a:rPr lang="en-US" sz="1300" dirty="0">
                <a:solidFill>
                  <a:srgbClr val="566878"/>
                </a:solidFill>
                <a:latin typeface="Calibri" pitchFamily="34" charset="0"/>
                <a:ea typeface="Calibri" pitchFamily="34" charset="-122"/>
                <a:cs typeface="Calibri" pitchFamily="34" charset="-120"/>
              </a:rPr>
              <a:t>30% of risk: motor power use</a:t>
            </a:r>
            <a:endParaRPr lang="en-US" sz="1300" dirty="0"/>
          </a:p>
          <a:p>
            <a:pPr marL="0" indent="0">
              <a:buNone/>
            </a:pPr>
            <a:r>
              <a:rPr lang="en-US" sz="1300" dirty="0">
                <a:solidFill>
                  <a:srgbClr val="566878"/>
                </a:solidFill>
                <a:latin typeface="Calibri" pitchFamily="34" charset="0"/>
                <a:ea typeface="Calibri" pitchFamily="34" charset="-122"/>
                <a:cs typeface="Calibri" pitchFamily="34" charset="-120"/>
              </a:rPr>
              <a:t>18% of risk: heat</a:t>
            </a:r>
            <a:endParaRPr lang="en-US" sz="1300" dirty="0"/>
          </a:p>
        </p:txBody>
      </p:sp>
      <p:sp>
        <p:nvSpPr>
          <p:cNvPr id="28" name="Shape 26"/>
          <p:cNvSpPr/>
          <p:nvPr/>
        </p:nvSpPr>
        <p:spPr>
          <a:xfrm>
            <a:off x="5989320" y="2651760"/>
            <a:ext cx="2697480" cy="1920240"/>
          </a:xfrm>
          <a:prstGeom prst="rect">
            <a:avLst/>
          </a:prstGeom>
          <a:solidFill>
            <a:srgbClr val="FFFFFF"/>
          </a:solidFill>
          <a:ln w="12700">
            <a:solidFill>
              <a:srgbClr val="CBD4DC"/>
            </a:solidFill>
            <a:prstDash val="solid"/>
          </a:ln>
        </p:spPr>
      </p:sp>
      <p:sp>
        <p:nvSpPr>
          <p:cNvPr id="29" name="Shape 27"/>
          <p:cNvSpPr/>
          <p:nvPr/>
        </p:nvSpPr>
        <p:spPr>
          <a:xfrm>
            <a:off x="5989320" y="2651760"/>
            <a:ext cx="64008" cy="1920240"/>
          </a:xfrm>
          <a:prstGeom prst="rect">
            <a:avLst/>
          </a:prstGeom>
          <a:solidFill>
            <a:srgbClr val="0F7F82"/>
          </a:solidFill>
        </p:spPr>
      </p:sp>
      <p:sp>
        <p:nvSpPr>
          <p:cNvPr id="30" name="Text 28"/>
          <p:cNvSpPr txBox="1"/>
          <p:nvPr/>
        </p:nvSpPr>
        <p:spPr>
          <a:xfrm>
            <a:off x="6172200" y="2743200"/>
            <a:ext cx="2377440" cy="292608"/>
          </a:xfrm>
          <a:prstGeom prst="rect">
            <a:avLst/>
          </a:prstGeom>
          <a:noFill/>
        </p:spPr>
        <p:txBody>
          <a:bodyPr wrap="square" lIns="0" tIns="0" rIns="0" bIns="0" rtlCol="0" anchor="ctr"/>
          <a:lstStyle/>
          <a:p>
            <a:pPr marL="0" indent="0">
              <a:buNone/>
            </a:pPr>
            <a:r>
              <a:rPr lang="en-US" sz="1600" b="1" dirty="0">
                <a:solidFill>
                  <a:srgbClr val="14202B"/>
                </a:solidFill>
                <a:latin typeface="Calibri" pitchFamily="34" charset="0"/>
                <a:ea typeface="Calibri" pitchFamily="34" charset="-122"/>
                <a:cs typeface="Calibri" pitchFamily="34" charset="-120"/>
              </a:rPr>
              <a:t>Can we build it? Yes</a:t>
            </a:r>
            <a:endParaRPr lang="en-US" sz="1600" dirty="0"/>
          </a:p>
        </p:txBody>
      </p:sp>
      <p:sp>
        <p:nvSpPr>
          <p:cNvPr id="31" name="Text 29"/>
          <p:cNvSpPr txBox="1"/>
          <p:nvPr/>
        </p:nvSpPr>
        <p:spPr>
          <a:xfrm>
            <a:off x="6172200" y="3063240"/>
            <a:ext cx="2377440" cy="1463040"/>
          </a:xfrm>
          <a:prstGeom prst="rect">
            <a:avLst/>
          </a:prstGeom>
          <a:noFill/>
        </p:spPr>
        <p:txBody>
          <a:bodyPr wrap="square" lIns="0" tIns="0" rIns="0" bIns="0" rtlCol="0" anchor="t"/>
          <a:lstStyle/>
          <a:p>
            <a:pPr marL="0" indent="0">
              <a:buNone/>
            </a:pPr>
            <a:r>
              <a:rPr lang="en-US" sz="1300" dirty="0">
                <a:solidFill>
                  <a:srgbClr val="566878"/>
                </a:solidFill>
                <a:latin typeface="Calibri" pitchFamily="34" charset="0"/>
                <a:ea typeface="Calibri" pitchFamily="34" charset="-122"/>
                <a:cs typeface="Calibri" pitchFamily="34" charset="-120"/>
              </a:rPr>
              <a:t>100% software.</a:t>
            </a:r>
            <a:endParaRPr lang="en-US" sz="1300" dirty="0"/>
          </a:p>
          <a:p>
            <a:pPr marL="0" indent="0">
              <a:buNone/>
            </a:pPr>
            <a:r>
              <a:rPr lang="en-US" sz="1300" dirty="0">
                <a:solidFill>
                  <a:srgbClr val="566878"/>
                </a:solidFill>
                <a:latin typeface="Calibri" pitchFamily="34" charset="0"/>
                <a:ea typeface="Calibri" pitchFamily="34" charset="-122"/>
                <a:cs typeface="Calibri" pitchFamily="34" charset="-120"/>
              </a:rPr>
              <a:t>Python, scikit-learn, XGBoost, Streamlit, Plotly.</a:t>
            </a:r>
            <a:endParaRPr lang="en-US" sz="1300" dirty="0"/>
          </a:p>
          <a:p>
            <a:pPr marL="0" indent="0">
              <a:buNone/>
            </a:pPr>
            <a:r>
              <a:rPr lang="en-US" sz="1300" dirty="0">
                <a:solidFill>
                  <a:srgbClr val="566878"/>
                </a:solidFill>
                <a:latin typeface="Calibri" pitchFamily="34" charset="0"/>
                <a:ea typeface="Calibri" pitchFamily="34" charset="-122"/>
                <a:cs typeface="Calibri" pitchFamily="34" charset="-120"/>
              </a:rPr>
              <a:t>Later, real sensors can plug in.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EF1F4"/>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F7F82"/>
          </a:solidFill>
        </p:spPr>
      </p:sp>
      <p:sp>
        <p:nvSpPr>
          <p:cNvPr id="3" name="Text 1"/>
          <p:cNvSpPr txBox="1"/>
          <p:nvPr/>
        </p:nvSpPr>
        <p:spPr>
          <a:xfrm>
            <a:off x="502920" y="228600"/>
            <a:ext cx="5852160" cy="502920"/>
          </a:xfrm>
          <a:prstGeom prst="rect">
            <a:avLst/>
          </a:prstGeom>
          <a:noFill/>
        </p:spPr>
        <p:txBody>
          <a:bodyPr wrap="square" lIns="0" tIns="0" rIns="0" bIns="0" rtlCol="0" anchor="ctr"/>
          <a:lstStyle/>
          <a:p>
            <a:pPr marL="0" indent="0">
              <a:buNone/>
            </a:pPr>
            <a:r>
              <a:rPr lang="en-US" sz="2800" b="1" dirty="0">
                <a:solidFill>
                  <a:srgbClr val="14202B"/>
                </a:solidFill>
                <a:latin typeface="Calibri" pitchFamily="34" charset="0"/>
                <a:ea typeface="Calibri" pitchFamily="34" charset="-122"/>
                <a:cs typeface="Calibri" pitchFamily="34" charset="-120"/>
              </a:rPr>
              <a:t>3. Development planning</a:t>
            </a:r>
            <a:endParaRPr lang="en-US" sz="2800" dirty="0"/>
          </a:p>
        </p:txBody>
      </p:sp>
      <p:sp>
        <p:nvSpPr>
          <p:cNvPr id="4" name="Text 2"/>
          <p:cNvSpPr txBox="1"/>
          <p:nvPr/>
        </p:nvSpPr>
        <p:spPr>
          <a:xfrm>
            <a:off x="502920" y="731520"/>
            <a:ext cx="5852160" cy="320040"/>
          </a:xfrm>
          <a:prstGeom prst="rect">
            <a:avLst/>
          </a:prstGeom>
          <a:noFill/>
        </p:spPr>
        <p:txBody>
          <a:bodyPr wrap="square" lIns="0" tIns="0" rIns="0" bIns="0" rtlCol="0" anchor="ctr"/>
          <a:lstStyle/>
          <a:p>
            <a:pPr marL="0" indent="0">
              <a:buNone/>
            </a:pPr>
            <a:r>
              <a:rPr lang="en-US" sz="1400" dirty="0">
                <a:solidFill>
                  <a:srgbClr val="566878"/>
                </a:solidFill>
                <a:latin typeface="Calibri" pitchFamily="34" charset="0"/>
                <a:ea typeface="Calibri" pitchFamily="34" charset="-122"/>
                <a:cs typeface="Calibri" pitchFamily="34" charset="-120"/>
              </a:rPr>
              <a:t>24 hours. 4 phases. 4 people.</a:t>
            </a:r>
            <a:endParaRPr lang="en-US" sz="1400" dirty="0"/>
          </a:p>
        </p:txBody>
      </p:sp>
      <p:sp>
        <p:nvSpPr>
          <p:cNvPr id="5" name="Shape 3"/>
          <p:cNvSpPr/>
          <p:nvPr/>
        </p:nvSpPr>
        <p:spPr>
          <a:xfrm>
            <a:off x="6400800" y="274320"/>
            <a:ext cx="2286000" cy="731520"/>
          </a:xfrm>
          <a:prstGeom prst="roundRect">
            <a:avLst>
              <a:gd name="adj" fmla="val 10000"/>
            </a:avLst>
          </a:prstGeom>
          <a:solidFill>
            <a:srgbClr val="14202B"/>
          </a:solidFill>
        </p:spPr>
      </p:sp>
      <p:sp>
        <p:nvSpPr>
          <p:cNvPr id="6" name="Text 4"/>
          <p:cNvSpPr txBox="1"/>
          <p:nvPr/>
        </p:nvSpPr>
        <p:spPr>
          <a:xfrm>
            <a:off x="6537960" y="329184"/>
            <a:ext cx="2057400" cy="640080"/>
          </a:xfrm>
          <a:prstGeom prst="rect">
            <a:avLst/>
          </a:prstGeom>
          <a:noFill/>
        </p:spPr>
        <p:txBody>
          <a:bodyPr wrap="square" lIns="0" tIns="0" rIns="0" bIns="0" rtlCol="0" anchor="ctr"/>
          <a:lstStyle/>
          <a:p>
            <a:pPr marL="0" indent="0">
              <a:buNone/>
            </a:pPr>
            <a:r>
              <a:rPr lang="en-US" sz="1100" dirty="0">
                <a:solidFill>
                  <a:srgbClr val="9FD8DA"/>
                </a:solidFill>
                <a:latin typeface="Calibri" pitchFamily="34" charset="0"/>
                <a:ea typeface="Calibri" pitchFamily="34" charset="-122"/>
                <a:cs typeface="Calibri" pitchFamily="34" charset="-120"/>
              </a:rPr>
              <a:t>Speaking</a:t>
            </a:r>
            <a:endParaRPr lang="en-US" sz="1100" dirty="0"/>
          </a:p>
          <a:p>
            <a:pPr marL="0" indent="0">
              <a:buNone/>
            </a:pPr>
            <a:r>
              <a:rPr lang="en-US" sz="1300" b="1" dirty="0">
                <a:solidFill>
                  <a:srgbClr val="FFFFFF"/>
                </a:solidFill>
                <a:latin typeface="Calibri" pitchFamily="34" charset="0"/>
                <a:ea typeface="Calibri" pitchFamily="34" charset="-122"/>
                <a:cs typeface="Calibri" pitchFamily="34" charset="-120"/>
              </a:rPr>
              <a:t>Hritu Raj Thakur</a:t>
            </a:r>
            <a:endParaRPr lang="en-US" sz="1100" dirty="0"/>
          </a:p>
        </p:txBody>
      </p:sp>
      <p:sp>
        <p:nvSpPr>
          <p:cNvPr id="7" name="Text 5"/>
          <p:cNvSpPr txBox="1"/>
          <p:nvPr/>
        </p:nvSpPr>
        <p:spPr>
          <a:xfrm>
            <a:off x="502920" y="4828032"/>
            <a:ext cx="8229600" cy="228600"/>
          </a:xfrm>
          <a:prstGeom prst="rect">
            <a:avLst/>
          </a:prstGeom>
          <a:noFill/>
        </p:spPr>
        <p:txBody>
          <a:bodyPr wrap="square" lIns="0" tIns="0" rIns="0" bIns="0" rtlCol="0" anchor="ctr"/>
          <a:lstStyle/>
          <a:p>
            <a:pPr marL="0" indent="0">
              <a:buNone/>
            </a:pPr>
            <a:r>
              <a:rPr lang="en-US" sz="1000" dirty="0">
                <a:solidFill>
                  <a:srgbClr val="566878"/>
                </a:solidFill>
                <a:latin typeface="Calibri" pitchFamily="34" charset="0"/>
                <a:ea typeface="Calibri" pitchFamily="34" charset="-122"/>
                <a:cs typeface="Calibri" pitchFamily="34" charset="-120"/>
              </a:rPr>
              <a:t>Spindle Nadi: predicting the machine’s "Last Good Hour"   |  </a:t>
            </a:r>
            <a:endParaRPr lang="en-US" sz="1000" dirty="0"/>
          </a:p>
        </p:txBody>
      </p:sp>
      <p:sp>
        <p:nvSpPr>
          <p:cNvPr id="8" name="Shape 6"/>
          <p:cNvSpPr/>
          <p:nvPr/>
        </p:nvSpPr>
        <p:spPr>
          <a:xfrm>
            <a:off x="502920" y="1234440"/>
            <a:ext cx="1920240" cy="1417320"/>
          </a:xfrm>
          <a:prstGeom prst="rect">
            <a:avLst/>
          </a:prstGeom>
          <a:solidFill>
            <a:srgbClr val="FFFFFF"/>
          </a:solidFill>
          <a:ln w="12700">
            <a:solidFill>
              <a:srgbClr val="CBD4DC"/>
            </a:solidFill>
            <a:prstDash val="solid"/>
          </a:ln>
        </p:spPr>
      </p:sp>
      <p:sp>
        <p:nvSpPr>
          <p:cNvPr id="9" name="Shape 7"/>
          <p:cNvSpPr/>
          <p:nvPr/>
        </p:nvSpPr>
        <p:spPr>
          <a:xfrm>
            <a:off x="502920" y="1234440"/>
            <a:ext cx="1920240" cy="457200"/>
          </a:xfrm>
          <a:prstGeom prst="rect">
            <a:avLst/>
          </a:prstGeom>
          <a:solidFill>
            <a:srgbClr val="0F7F82"/>
          </a:solidFill>
        </p:spPr>
      </p:sp>
      <p:sp>
        <p:nvSpPr>
          <p:cNvPr id="10" name="Text 8"/>
          <p:cNvSpPr txBox="1"/>
          <p:nvPr/>
        </p:nvSpPr>
        <p:spPr>
          <a:xfrm>
            <a:off x="502920" y="1234440"/>
            <a:ext cx="192024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Hours 0-6</a:t>
            </a:r>
            <a:endParaRPr lang="en-US" sz="1500" dirty="0"/>
          </a:p>
        </p:txBody>
      </p:sp>
      <p:sp>
        <p:nvSpPr>
          <p:cNvPr id="11" name="Text 9"/>
          <p:cNvSpPr txBox="1"/>
          <p:nvPr/>
        </p:nvSpPr>
        <p:spPr>
          <a:xfrm>
            <a:off x="640080" y="1810512"/>
            <a:ext cx="1645920" cy="777240"/>
          </a:xfrm>
          <a:prstGeom prst="rect">
            <a:avLst/>
          </a:prstGeom>
          <a:noFill/>
        </p:spPr>
        <p:txBody>
          <a:bodyPr wrap="square" lIns="0" tIns="0" rIns="0" bIns="0" rtlCol="0" anchor="t"/>
          <a:lstStyle/>
          <a:p>
            <a:pPr marL="0" indent="0">
              <a:buNone/>
            </a:pPr>
            <a:r>
              <a:rPr lang="en-US" sz="1300" dirty="0">
                <a:solidFill>
                  <a:srgbClr val="14202B"/>
                </a:solidFill>
                <a:latin typeface="Calibri" pitchFamily="34" charset="0"/>
                <a:ea typeface="Calibri" pitchFamily="34" charset="-122"/>
                <a:cs typeface="Calibri" pitchFamily="34" charset="-120"/>
              </a:rPr>
              <a:t>Set up project, data simulator</a:t>
            </a:r>
            <a:endParaRPr lang="en-US" sz="1300" dirty="0"/>
          </a:p>
        </p:txBody>
      </p:sp>
      <p:sp>
        <p:nvSpPr>
          <p:cNvPr id="12" name="Shape 10"/>
          <p:cNvSpPr/>
          <p:nvPr/>
        </p:nvSpPr>
        <p:spPr>
          <a:xfrm>
            <a:off x="2569464" y="1234440"/>
            <a:ext cx="1920240" cy="1417320"/>
          </a:xfrm>
          <a:prstGeom prst="rect">
            <a:avLst/>
          </a:prstGeom>
          <a:solidFill>
            <a:srgbClr val="FFFFFF"/>
          </a:solidFill>
          <a:ln w="12700">
            <a:solidFill>
              <a:srgbClr val="CBD4DC"/>
            </a:solidFill>
            <a:prstDash val="solid"/>
          </a:ln>
        </p:spPr>
      </p:sp>
      <p:sp>
        <p:nvSpPr>
          <p:cNvPr id="13" name="Shape 11"/>
          <p:cNvSpPr/>
          <p:nvPr/>
        </p:nvSpPr>
        <p:spPr>
          <a:xfrm>
            <a:off x="2569464" y="1234440"/>
            <a:ext cx="1920240" cy="457200"/>
          </a:xfrm>
          <a:prstGeom prst="rect">
            <a:avLst/>
          </a:prstGeom>
          <a:solidFill>
            <a:srgbClr val="0F7F82"/>
          </a:solidFill>
        </p:spPr>
      </p:sp>
      <p:sp>
        <p:nvSpPr>
          <p:cNvPr id="14" name="Text 12"/>
          <p:cNvSpPr txBox="1"/>
          <p:nvPr/>
        </p:nvSpPr>
        <p:spPr>
          <a:xfrm>
            <a:off x="2569464" y="1234440"/>
            <a:ext cx="192024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Hours 6-12</a:t>
            </a:r>
            <a:endParaRPr lang="en-US" sz="1500" dirty="0"/>
          </a:p>
        </p:txBody>
      </p:sp>
      <p:sp>
        <p:nvSpPr>
          <p:cNvPr id="15" name="Text 13"/>
          <p:cNvSpPr txBox="1"/>
          <p:nvPr/>
        </p:nvSpPr>
        <p:spPr>
          <a:xfrm>
            <a:off x="2706624" y="1810512"/>
            <a:ext cx="1645920" cy="777240"/>
          </a:xfrm>
          <a:prstGeom prst="rect">
            <a:avLst/>
          </a:prstGeom>
          <a:noFill/>
        </p:spPr>
        <p:txBody>
          <a:bodyPr wrap="square" lIns="0" tIns="0" rIns="0" bIns="0" rtlCol="0" anchor="t"/>
          <a:lstStyle/>
          <a:p>
            <a:pPr marL="0" indent="0">
              <a:buNone/>
            </a:pPr>
            <a:r>
              <a:rPr lang="en-US" sz="1300" dirty="0">
                <a:solidFill>
                  <a:srgbClr val="14202B"/>
                </a:solidFill>
                <a:latin typeface="Calibri" pitchFamily="34" charset="0"/>
                <a:ea typeface="Calibri" pitchFamily="34" charset="-122"/>
                <a:cs typeface="Calibri" pitchFamily="34" charset="-120"/>
              </a:rPr>
              <a:t>Train AI, risk score, first dashboard</a:t>
            </a:r>
            <a:endParaRPr lang="en-US" sz="1300" dirty="0"/>
          </a:p>
        </p:txBody>
      </p:sp>
      <p:sp>
        <p:nvSpPr>
          <p:cNvPr id="16" name="Shape 14"/>
          <p:cNvSpPr/>
          <p:nvPr/>
        </p:nvSpPr>
        <p:spPr>
          <a:xfrm>
            <a:off x="4636008" y="1234440"/>
            <a:ext cx="1920240" cy="1417320"/>
          </a:xfrm>
          <a:prstGeom prst="rect">
            <a:avLst/>
          </a:prstGeom>
          <a:solidFill>
            <a:srgbClr val="FFFFFF"/>
          </a:solidFill>
          <a:ln w="12700">
            <a:solidFill>
              <a:srgbClr val="CBD4DC"/>
            </a:solidFill>
            <a:prstDash val="solid"/>
          </a:ln>
        </p:spPr>
      </p:sp>
      <p:sp>
        <p:nvSpPr>
          <p:cNvPr id="17" name="Shape 15"/>
          <p:cNvSpPr/>
          <p:nvPr/>
        </p:nvSpPr>
        <p:spPr>
          <a:xfrm>
            <a:off x="4636008" y="1234440"/>
            <a:ext cx="1920240" cy="457200"/>
          </a:xfrm>
          <a:prstGeom prst="rect">
            <a:avLst/>
          </a:prstGeom>
          <a:solidFill>
            <a:srgbClr val="0F7F82"/>
          </a:solidFill>
        </p:spPr>
      </p:sp>
      <p:sp>
        <p:nvSpPr>
          <p:cNvPr id="18" name="Text 16"/>
          <p:cNvSpPr txBox="1"/>
          <p:nvPr/>
        </p:nvSpPr>
        <p:spPr>
          <a:xfrm>
            <a:off x="4636008" y="1234440"/>
            <a:ext cx="192024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Hours 12-18</a:t>
            </a:r>
            <a:endParaRPr lang="en-US" sz="1500" dirty="0"/>
          </a:p>
        </p:txBody>
      </p:sp>
      <p:sp>
        <p:nvSpPr>
          <p:cNvPr id="19" name="Text 17"/>
          <p:cNvSpPr txBox="1"/>
          <p:nvPr/>
        </p:nvSpPr>
        <p:spPr>
          <a:xfrm>
            <a:off x="4773168" y="1810512"/>
            <a:ext cx="1645920" cy="777240"/>
          </a:xfrm>
          <a:prstGeom prst="rect">
            <a:avLst/>
          </a:prstGeom>
          <a:noFill/>
        </p:spPr>
        <p:txBody>
          <a:bodyPr wrap="square" lIns="0" tIns="0" rIns="0" bIns="0" rtlCol="0" anchor="t"/>
          <a:lstStyle/>
          <a:p>
            <a:pPr marL="0" indent="0">
              <a:buNone/>
            </a:pPr>
            <a:r>
              <a:rPr lang="en-US" sz="1300" dirty="0">
                <a:solidFill>
                  <a:srgbClr val="14202B"/>
                </a:solidFill>
                <a:latin typeface="Calibri" pitchFamily="34" charset="0"/>
                <a:ea typeface="Calibri" pitchFamily="34" charset="-122"/>
                <a:cs typeface="Calibri" pitchFamily="34" charset="-120"/>
              </a:rPr>
              <a:t>WHY panel, ISO rules, repair history</a:t>
            </a:r>
            <a:endParaRPr lang="en-US" sz="1300" dirty="0"/>
          </a:p>
        </p:txBody>
      </p:sp>
      <p:sp>
        <p:nvSpPr>
          <p:cNvPr id="20" name="Shape 18"/>
          <p:cNvSpPr/>
          <p:nvPr/>
        </p:nvSpPr>
        <p:spPr>
          <a:xfrm>
            <a:off x="6702552" y="1234440"/>
            <a:ext cx="1920240" cy="1417320"/>
          </a:xfrm>
          <a:prstGeom prst="rect">
            <a:avLst/>
          </a:prstGeom>
          <a:solidFill>
            <a:srgbClr val="FFFFFF"/>
          </a:solidFill>
          <a:ln w="12700">
            <a:solidFill>
              <a:srgbClr val="CBD4DC"/>
            </a:solidFill>
            <a:prstDash val="solid"/>
          </a:ln>
        </p:spPr>
      </p:sp>
      <p:sp>
        <p:nvSpPr>
          <p:cNvPr id="21" name="Shape 19"/>
          <p:cNvSpPr/>
          <p:nvPr/>
        </p:nvSpPr>
        <p:spPr>
          <a:xfrm>
            <a:off x="6702552" y="1234440"/>
            <a:ext cx="1920240" cy="457200"/>
          </a:xfrm>
          <a:prstGeom prst="rect">
            <a:avLst/>
          </a:prstGeom>
          <a:solidFill>
            <a:srgbClr val="0F7F82"/>
          </a:solidFill>
        </p:spPr>
      </p:sp>
      <p:sp>
        <p:nvSpPr>
          <p:cNvPr id="22" name="Text 20"/>
          <p:cNvSpPr txBox="1"/>
          <p:nvPr/>
        </p:nvSpPr>
        <p:spPr>
          <a:xfrm>
            <a:off x="6702552" y="1234440"/>
            <a:ext cx="1920240" cy="457200"/>
          </a:xfrm>
          <a:prstGeom prst="rect">
            <a:avLst/>
          </a:prstGeom>
          <a:noFill/>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Hours 18-24</a:t>
            </a:r>
            <a:endParaRPr lang="en-US" sz="1500" dirty="0"/>
          </a:p>
        </p:txBody>
      </p:sp>
      <p:sp>
        <p:nvSpPr>
          <p:cNvPr id="23" name="Text 21"/>
          <p:cNvSpPr txBox="1"/>
          <p:nvPr/>
        </p:nvSpPr>
        <p:spPr>
          <a:xfrm>
            <a:off x="6839712" y="1810512"/>
            <a:ext cx="1645920" cy="777240"/>
          </a:xfrm>
          <a:prstGeom prst="rect">
            <a:avLst/>
          </a:prstGeom>
          <a:noFill/>
        </p:spPr>
        <p:txBody>
          <a:bodyPr wrap="square" lIns="0" tIns="0" rIns="0" bIns="0" rtlCol="0" anchor="t"/>
          <a:lstStyle/>
          <a:p>
            <a:pPr marL="0" indent="0">
              <a:buNone/>
            </a:pPr>
            <a:r>
              <a:rPr lang="en-US" sz="1300" dirty="0">
                <a:solidFill>
                  <a:srgbClr val="14202B"/>
                </a:solidFill>
                <a:latin typeface="Calibri" pitchFamily="34" charset="0"/>
                <a:ea typeface="Calibri" pitchFamily="34" charset="-122"/>
                <a:cs typeface="Calibri" pitchFamily="34" charset="-120"/>
              </a:rPr>
              <a:t>Test 3 states, backup video, practice</a:t>
            </a:r>
            <a:endParaRPr lang="en-US" sz="1300" dirty="0"/>
          </a:p>
        </p:txBody>
      </p:sp>
      <p:sp>
        <p:nvSpPr>
          <p:cNvPr id="24" name="Shape 22"/>
          <p:cNvSpPr/>
          <p:nvPr/>
        </p:nvSpPr>
        <p:spPr>
          <a:xfrm>
            <a:off x="502920" y="2834640"/>
            <a:ext cx="1920240" cy="1005840"/>
          </a:xfrm>
          <a:prstGeom prst="rect">
            <a:avLst/>
          </a:prstGeom>
          <a:solidFill>
            <a:srgbClr val="14202B"/>
          </a:solidFill>
        </p:spPr>
      </p:sp>
      <p:sp>
        <p:nvSpPr>
          <p:cNvPr id="25" name="Text 23"/>
          <p:cNvSpPr txBox="1"/>
          <p:nvPr/>
        </p:nvSpPr>
        <p:spPr>
          <a:xfrm>
            <a:off x="612775" y="2926080"/>
            <a:ext cx="1809750" cy="320040"/>
          </a:xfrm>
          <a:prstGeom prst="rect">
            <a:avLst/>
          </a:prstGeom>
          <a:noFill/>
        </p:spPr>
        <p:txBody>
          <a:bodyPr wrap="square" lIns="0" tIns="0" rIns="0" bIns="0" rtlCol="0" anchor="ctr"/>
          <a:lstStyle/>
          <a:p>
            <a:pPr marL="0" indent="0">
              <a:buNone/>
            </a:pPr>
            <a:r>
              <a:rPr lang="en-US" sz="1400" b="1" dirty="0">
                <a:solidFill>
                  <a:schemeClr val="bg1"/>
                </a:solidFill>
              </a:rPr>
              <a:t>Rajkishor Kushwaha (AIDS)</a:t>
            </a:r>
            <a:endParaRPr lang="en-US" sz="1400" b="1" dirty="0">
              <a:solidFill>
                <a:schemeClr val="bg1"/>
              </a:solidFill>
            </a:endParaRPr>
          </a:p>
        </p:txBody>
      </p:sp>
      <p:sp>
        <p:nvSpPr>
          <p:cNvPr id="26" name="Text 24"/>
          <p:cNvSpPr txBox="1"/>
          <p:nvPr/>
        </p:nvSpPr>
        <p:spPr>
          <a:xfrm>
            <a:off x="575183" y="3355975"/>
            <a:ext cx="1737360" cy="502920"/>
          </a:xfrm>
          <a:prstGeom prst="rect">
            <a:avLst/>
          </a:prstGeom>
          <a:noFill/>
        </p:spPr>
        <p:txBody>
          <a:bodyPr wrap="square" lIns="0" tIns="0" rIns="0" bIns="0" rtlCol="0" anchor="t"/>
          <a:lstStyle/>
          <a:p>
            <a:pPr marL="0" indent="0">
              <a:buNone/>
            </a:pPr>
            <a:r>
              <a:rPr lang="en-US" sz="1200" dirty="0">
                <a:solidFill>
                  <a:schemeClr val="bg1"/>
                </a:solidFill>
              </a:rPr>
              <a:t>Dashboard and Charts</a:t>
            </a:r>
            <a:endParaRPr lang="en-US" sz="1200" dirty="0">
              <a:solidFill>
                <a:schemeClr val="bg1"/>
              </a:solidFill>
            </a:endParaRPr>
          </a:p>
        </p:txBody>
      </p:sp>
      <p:sp>
        <p:nvSpPr>
          <p:cNvPr id="27" name="Shape 25"/>
          <p:cNvSpPr/>
          <p:nvPr/>
        </p:nvSpPr>
        <p:spPr>
          <a:xfrm>
            <a:off x="2569464" y="2834640"/>
            <a:ext cx="1920240" cy="1005840"/>
          </a:xfrm>
          <a:prstGeom prst="rect">
            <a:avLst/>
          </a:prstGeom>
          <a:solidFill>
            <a:srgbClr val="14202B"/>
          </a:solidFill>
        </p:spPr>
      </p:sp>
      <p:sp>
        <p:nvSpPr>
          <p:cNvPr id="28" name="Text 26"/>
          <p:cNvSpPr txBox="1"/>
          <p:nvPr/>
        </p:nvSpPr>
        <p:spPr>
          <a:xfrm>
            <a:off x="2679192" y="2926080"/>
            <a:ext cx="1737360" cy="320040"/>
          </a:xfrm>
          <a:prstGeom prst="rect">
            <a:avLst/>
          </a:prstGeom>
          <a:noFill/>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Raushan (Civil)</a:t>
            </a:r>
            <a:endParaRPr lang="en-US" sz="1400" dirty="0"/>
          </a:p>
        </p:txBody>
      </p:sp>
      <p:sp>
        <p:nvSpPr>
          <p:cNvPr id="29" name="Text 27"/>
          <p:cNvSpPr txBox="1"/>
          <p:nvPr/>
        </p:nvSpPr>
        <p:spPr>
          <a:xfrm>
            <a:off x="2679192" y="3291840"/>
            <a:ext cx="1737360" cy="502920"/>
          </a:xfrm>
          <a:prstGeom prst="rect">
            <a:avLst/>
          </a:prstGeom>
          <a:noFill/>
        </p:spPr>
        <p:txBody>
          <a:bodyPr wrap="square" lIns="0" tIns="0" rIns="0" bIns="0" rtlCol="0" anchor="t"/>
          <a:lstStyle/>
          <a:p>
            <a:pPr marL="0" indent="0">
              <a:buNone/>
            </a:pPr>
            <a:r>
              <a:rPr lang="en-US" sz="1200" dirty="0">
                <a:solidFill>
                  <a:srgbClr val="D5E3EC"/>
                </a:solidFill>
                <a:latin typeface="Calibri" pitchFamily="34" charset="0"/>
                <a:ea typeface="Calibri" pitchFamily="34" charset="-122"/>
                <a:cs typeface="Calibri" pitchFamily="34" charset="-120"/>
              </a:rPr>
              <a:t>wear physics</a:t>
            </a:r>
            <a:endParaRPr lang="en-US" sz="1200" dirty="0"/>
          </a:p>
        </p:txBody>
      </p:sp>
      <p:sp>
        <p:nvSpPr>
          <p:cNvPr id="30" name="Shape 28"/>
          <p:cNvSpPr/>
          <p:nvPr/>
        </p:nvSpPr>
        <p:spPr>
          <a:xfrm>
            <a:off x="4636008" y="2834640"/>
            <a:ext cx="1920240" cy="1005840"/>
          </a:xfrm>
          <a:prstGeom prst="rect">
            <a:avLst/>
          </a:prstGeom>
          <a:solidFill>
            <a:srgbClr val="14202B"/>
          </a:solidFill>
        </p:spPr>
      </p:sp>
      <p:sp>
        <p:nvSpPr>
          <p:cNvPr id="31" name="Text 29"/>
          <p:cNvSpPr txBox="1"/>
          <p:nvPr/>
        </p:nvSpPr>
        <p:spPr>
          <a:xfrm>
            <a:off x="4745736" y="2926080"/>
            <a:ext cx="1737360" cy="320040"/>
          </a:xfrm>
          <a:prstGeom prst="rect">
            <a:avLst/>
          </a:prstGeom>
          <a:noFill/>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Aakash (AIML)</a:t>
            </a:r>
            <a:endParaRPr lang="en-US" sz="1400" dirty="0"/>
          </a:p>
        </p:txBody>
      </p:sp>
      <p:sp>
        <p:nvSpPr>
          <p:cNvPr id="32" name="Text 30"/>
          <p:cNvSpPr txBox="1"/>
          <p:nvPr/>
        </p:nvSpPr>
        <p:spPr>
          <a:xfrm>
            <a:off x="4745736" y="3291840"/>
            <a:ext cx="1737360" cy="502920"/>
          </a:xfrm>
          <a:prstGeom prst="rect">
            <a:avLst/>
          </a:prstGeom>
          <a:noFill/>
        </p:spPr>
        <p:txBody>
          <a:bodyPr wrap="square" lIns="0" tIns="0" rIns="0" bIns="0" rtlCol="0" anchor="t"/>
          <a:lstStyle/>
          <a:p>
            <a:pPr marL="0" indent="0">
              <a:buNone/>
            </a:pPr>
            <a:r>
              <a:rPr lang="en-US" sz="1200" dirty="0">
                <a:solidFill>
                  <a:srgbClr val="D5E3EC"/>
                </a:solidFill>
                <a:latin typeface="Calibri" pitchFamily="34" charset="0"/>
                <a:ea typeface="Calibri" pitchFamily="34" charset="-122"/>
                <a:cs typeface="Calibri" pitchFamily="34" charset="-120"/>
              </a:rPr>
              <a:t>AI models, WHY engine</a:t>
            </a:r>
            <a:endParaRPr lang="en-US" sz="1200" dirty="0"/>
          </a:p>
        </p:txBody>
      </p:sp>
      <p:sp>
        <p:nvSpPr>
          <p:cNvPr id="33" name="Shape 31"/>
          <p:cNvSpPr/>
          <p:nvPr/>
        </p:nvSpPr>
        <p:spPr>
          <a:xfrm>
            <a:off x="6702552" y="2834640"/>
            <a:ext cx="1920240" cy="1005840"/>
          </a:xfrm>
          <a:prstGeom prst="rect">
            <a:avLst/>
          </a:prstGeom>
          <a:solidFill>
            <a:srgbClr val="14202B"/>
          </a:solidFill>
        </p:spPr>
      </p:sp>
      <p:sp>
        <p:nvSpPr>
          <p:cNvPr id="34" name="Text 32"/>
          <p:cNvSpPr txBox="1"/>
          <p:nvPr/>
        </p:nvSpPr>
        <p:spPr>
          <a:xfrm>
            <a:off x="6812280" y="2926080"/>
            <a:ext cx="1737360" cy="320040"/>
          </a:xfrm>
          <a:prstGeom prst="rect">
            <a:avLst/>
          </a:prstGeom>
          <a:noFill/>
        </p:spPr>
        <p:txBody>
          <a:bodyPr wrap="square" lIns="0" tIns="0" rIns="0" bIns="0" rtlCol="0" anchor="ctr"/>
          <a:lstStyle/>
          <a:p>
            <a:pPr marL="0" indent="0">
              <a:buNone/>
            </a:pPr>
            <a:r>
              <a:rPr lang="en-US" sz="1400" b="1" dirty="0">
                <a:solidFill>
                  <a:schemeClr val="bg1"/>
                </a:solidFill>
              </a:rPr>
              <a:t>Hrituraj Thakur (CSE)</a:t>
            </a:r>
            <a:endParaRPr lang="en-US" sz="1400" b="1" dirty="0">
              <a:solidFill>
                <a:schemeClr val="bg1"/>
              </a:solidFill>
            </a:endParaRPr>
          </a:p>
        </p:txBody>
      </p:sp>
      <p:sp>
        <p:nvSpPr>
          <p:cNvPr id="35" name="Text 33"/>
          <p:cNvSpPr txBox="1"/>
          <p:nvPr/>
        </p:nvSpPr>
        <p:spPr>
          <a:xfrm>
            <a:off x="6812280" y="3291840"/>
            <a:ext cx="1737360" cy="502920"/>
          </a:xfrm>
          <a:prstGeom prst="rect">
            <a:avLst/>
          </a:prstGeom>
          <a:noFill/>
        </p:spPr>
        <p:txBody>
          <a:bodyPr wrap="square" lIns="0" tIns="0" rIns="0" bIns="0" rtlCol="0" anchor="t"/>
          <a:lstStyle/>
          <a:p>
            <a:pPr marL="0" indent="0">
              <a:buNone/>
            </a:pPr>
            <a:r>
              <a:rPr lang="en-US" sz="1200" dirty="0">
                <a:solidFill>
                  <a:schemeClr val="bg1"/>
                </a:solidFill>
              </a:rPr>
              <a:t>Pitch testing  and emo</a:t>
            </a:r>
            <a:endParaRPr lang="en-US" sz="1200" dirty="0">
              <a:solidFill>
                <a:schemeClr val="bg1"/>
              </a:solidFill>
            </a:endParaRPr>
          </a:p>
        </p:txBody>
      </p:sp>
      <p:sp>
        <p:nvSpPr>
          <p:cNvPr id="36" name="Text 34"/>
          <p:cNvSpPr txBox="1"/>
          <p:nvPr/>
        </p:nvSpPr>
        <p:spPr>
          <a:xfrm>
            <a:off x="502920" y="4069080"/>
            <a:ext cx="1920240" cy="548640"/>
          </a:xfrm>
          <a:prstGeom prst="rect">
            <a:avLst/>
          </a:prstGeom>
          <a:noFill/>
        </p:spPr>
        <p:txBody>
          <a:bodyPr wrap="square" lIns="0" tIns="0" rIns="0" bIns="0" rtlCol="0" anchor="ctr"/>
          <a:lstStyle/>
          <a:p>
            <a:pPr marL="0" indent="0">
              <a:buNone/>
            </a:pPr>
            <a:r>
              <a:rPr lang="en-US" sz="2600" b="1" dirty="0">
                <a:solidFill>
                  <a:srgbClr val="0F7F82"/>
                </a:solidFill>
                <a:latin typeface="Calibri" pitchFamily="34" charset="0"/>
                <a:ea typeface="Calibri" pitchFamily="34" charset="-122"/>
                <a:cs typeface="Calibri" pitchFamily="34" charset="-120"/>
              </a:rPr>
              <a:t>24 </a:t>
            </a:r>
            <a:r>
              <a:rPr lang="en-US" sz="1300" dirty="0">
                <a:solidFill>
                  <a:srgbClr val="566878"/>
                </a:solidFill>
                <a:latin typeface="Calibri" pitchFamily="34" charset="0"/>
                <a:ea typeface="Calibri" pitchFamily="34" charset="-122"/>
                <a:cs typeface="Calibri" pitchFamily="34" charset="-120"/>
              </a:rPr>
              <a:t>hours</a:t>
            </a:r>
            <a:endParaRPr lang="en-US" sz="2600" dirty="0"/>
          </a:p>
        </p:txBody>
      </p:sp>
      <p:sp>
        <p:nvSpPr>
          <p:cNvPr id="37" name="Text 35"/>
          <p:cNvSpPr txBox="1"/>
          <p:nvPr/>
        </p:nvSpPr>
        <p:spPr>
          <a:xfrm>
            <a:off x="2569464" y="4069080"/>
            <a:ext cx="1920240" cy="548640"/>
          </a:xfrm>
          <a:prstGeom prst="rect">
            <a:avLst/>
          </a:prstGeom>
          <a:noFill/>
        </p:spPr>
        <p:txBody>
          <a:bodyPr wrap="square" lIns="0" tIns="0" rIns="0" bIns="0" rtlCol="0" anchor="ctr"/>
          <a:lstStyle/>
          <a:p>
            <a:pPr marL="0" indent="0">
              <a:buNone/>
            </a:pPr>
            <a:r>
              <a:rPr lang="en-US" sz="2600" b="1" dirty="0">
                <a:solidFill>
                  <a:srgbClr val="0F7F82"/>
                </a:solidFill>
                <a:latin typeface="Calibri" pitchFamily="34" charset="0"/>
                <a:ea typeface="Calibri" pitchFamily="34" charset="-122"/>
                <a:cs typeface="Calibri" pitchFamily="34" charset="-120"/>
              </a:rPr>
              <a:t>4 </a:t>
            </a:r>
            <a:r>
              <a:rPr lang="en-US" sz="1300" dirty="0">
                <a:solidFill>
                  <a:srgbClr val="566878"/>
                </a:solidFill>
                <a:latin typeface="Calibri" pitchFamily="34" charset="0"/>
                <a:ea typeface="Calibri" pitchFamily="34" charset="-122"/>
                <a:cs typeface="Calibri" pitchFamily="34" charset="-120"/>
              </a:rPr>
              <a:t>phases</a:t>
            </a:r>
            <a:endParaRPr lang="en-US" sz="2600" dirty="0"/>
          </a:p>
        </p:txBody>
      </p:sp>
      <p:sp>
        <p:nvSpPr>
          <p:cNvPr id="38" name="Text 36"/>
          <p:cNvSpPr txBox="1"/>
          <p:nvPr/>
        </p:nvSpPr>
        <p:spPr>
          <a:xfrm>
            <a:off x="4636008" y="4069080"/>
            <a:ext cx="1920240" cy="548640"/>
          </a:xfrm>
          <a:prstGeom prst="rect">
            <a:avLst/>
          </a:prstGeom>
          <a:noFill/>
        </p:spPr>
        <p:txBody>
          <a:bodyPr wrap="square" lIns="0" tIns="0" rIns="0" bIns="0" rtlCol="0" anchor="ctr"/>
          <a:lstStyle/>
          <a:p>
            <a:pPr marL="0" indent="0">
              <a:buNone/>
            </a:pPr>
            <a:r>
              <a:rPr lang="en-US" sz="2600" b="1" dirty="0">
                <a:solidFill>
                  <a:srgbClr val="0F7F82"/>
                </a:solidFill>
                <a:latin typeface="Calibri" pitchFamily="34" charset="0"/>
                <a:ea typeface="Calibri" pitchFamily="34" charset="-122"/>
                <a:cs typeface="Calibri" pitchFamily="34" charset="-120"/>
              </a:rPr>
              <a:t>4 </a:t>
            </a:r>
            <a:r>
              <a:rPr lang="en-US" sz="1300" dirty="0">
                <a:solidFill>
                  <a:srgbClr val="566878"/>
                </a:solidFill>
                <a:latin typeface="Calibri" pitchFamily="34" charset="0"/>
                <a:ea typeface="Calibri" pitchFamily="34" charset="-122"/>
                <a:cs typeface="Calibri" pitchFamily="34" charset="-120"/>
              </a:rPr>
              <a:t>team members</a:t>
            </a:r>
            <a:endParaRPr lang="en-US" sz="2600" dirty="0"/>
          </a:p>
        </p:txBody>
      </p:sp>
      <p:sp>
        <p:nvSpPr>
          <p:cNvPr id="39" name="Text 37"/>
          <p:cNvSpPr txBox="1"/>
          <p:nvPr/>
        </p:nvSpPr>
        <p:spPr>
          <a:xfrm>
            <a:off x="6702552" y="4069080"/>
            <a:ext cx="1920240" cy="548640"/>
          </a:xfrm>
          <a:prstGeom prst="rect">
            <a:avLst/>
          </a:prstGeom>
          <a:noFill/>
        </p:spPr>
        <p:txBody>
          <a:bodyPr wrap="square" lIns="0" tIns="0" rIns="0" bIns="0" rtlCol="0" anchor="ctr"/>
          <a:lstStyle/>
          <a:p>
            <a:pPr marL="0" indent="0">
              <a:buNone/>
            </a:pPr>
            <a:r>
              <a:rPr lang="en-US" sz="2600" b="1" dirty="0">
                <a:solidFill>
                  <a:srgbClr val="0F7F82"/>
                </a:solidFill>
                <a:latin typeface="Calibri" pitchFamily="34" charset="0"/>
                <a:ea typeface="Calibri" pitchFamily="34" charset="-122"/>
                <a:cs typeface="Calibri" pitchFamily="34" charset="-120"/>
              </a:rPr>
              <a:t>3 </a:t>
            </a:r>
            <a:r>
              <a:rPr lang="en-US" sz="1300" dirty="0">
                <a:solidFill>
                  <a:srgbClr val="566878"/>
                </a:solidFill>
                <a:latin typeface="Calibri" pitchFamily="34" charset="0"/>
                <a:ea typeface="Calibri" pitchFamily="34" charset="-122"/>
                <a:cs typeface="Calibri" pitchFamily="34" charset="-120"/>
              </a:rPr>
              <a:t>machine states tested</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2203</Words>
  <Application>WPS Sheets</Application>
  <PresentationFormat>On-screen Show (16:9)</PresentationFormat>
  <Paragraphs>138</Paragraphs>
  <Slides>3</Slides>
  <Notes>3</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3</vt:i4>
      </vt:variant>
    </vt:vector>
  </HeadingPairs>
  <TitlesOfParts>
    <vt:vector size="15" baseType="lpstr">
      <vt:lpstr>Arial</vt:lpstr>
      <vt:lpstr>SimSun</vt:lpstr>
      <vt:lpstr>Wingdings</vt:lpstr>
      <vt:lpstr>Calibri</vt:lpstr>
      <vt:lpstr>Helvetica Neue</vt:lpstr>
      <vt:lpstr>Calibri</vt:lpstr>
      <vt:lpstr>Calibri</vt:lpstr>
      <vt:lpstr>Microsoft YaHei</vt:lpstr>
      <vt:lpstr>汉仪旗黑</vt:lpstr>
      <vt:lpstr>Arial Unicode MS</vt:lpstr>
      <vt:lpstr>汉仪书宋二KW</vt:lpstr>
      <vt:lpstr>Office Theme</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Spindle Nadi - Review 1</dc:title>
  <dc:creator>PptxGenJS</dc:creator>
  <dc:subject>PptxGenJS Presentation</dc:subject>
  <cp:lastModifiedBy>Raj_ Kushwaha</cp:lastModifiedBy>
  <cp:revision>3</cp:revision>
  <dcterms:created xsi:type="dcterms:W3CDTF">2026-10-02T17:24:17Z</dcterms:created>
  <dcterms:modified xsi:type="dcterms:W3CDTF">2026-10-02T17:24:17Z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97E000BA132DE2FAC1E8BF6AB22F58A3_43</vt:lpwstr>
  </property>
  <property fmtid="{D5CDD505-2E9C-101B-9397-08002B2CF9AE}" pid="3" name="KSOProductBuildVer">
    <vt:lpwstr>1033-12.1.28496.28496</vt:lpwstr>
  </property>
</Properties>
</file>