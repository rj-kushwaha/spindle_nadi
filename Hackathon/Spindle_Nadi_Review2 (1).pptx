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gress" id="{971adf00-732e-0651-5e27-3e73fc4df782}">
          <p14:sldIdLst>
            <p14:sldId id="256"/>
          </p14:sldIdLst>
        </p14:section>
        <p14:section name="Approach" id="{b01211c4-c281-c642-e44a-60a5a2520e93}">
          <p14:sldIdLst>
            <p14:sldId id="257"/>
          </p14:sldIdLst>
        </p14:section>
        <p14:section name="Demo" id="{4afffc07-e566-c33a-9121-c176513b3d65}">
          <p14:sldIdLst>
            <p14:sldId id="258"/>
          </p14:sldIdLst>
        </p14:section>
        <p14:section name="Claims" id="{20f38a47-8df5-44a5-76b4-874ec80626e3}">
          <p14:sldIdLst>
            <p14:sldId id="259"/>
          </p14:sldIdLst>
        </p14:section>
        <p14:section name="Next" id="{8a541c45-7282-b0ed-77d2-0d3c82d35c4b}">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Failure risk (%)</c:v>
                </c:pt>
              </c:strCache>
            </c:strRef>
          </c:tx>
          <c:spPr>
            <a:solidFill>
              <a:srgbClr val="38BDF8"/>
            </a:solidFill>
            <a:ln w="38100" cap="flat">
              <a:solidFill>
                <a:srgbClr val="38BDF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8BDF8"/>
              </a:solidFill>
              <a:ln w="9525" cap="flat">
                <a:solidFill>
                  <a:srgbClr val="38BDF8"/>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6</c:v>
                </c:pt>
                <c:pt idx="1">
                  <c:v>7</c:v>
                </c:pt>
                <c:pt idx="2">
                  <c:v>8</c:v>
                </c:pt>
                <c:pt idx="3">
                  <c:v>10</c:v>
                </c:pt>
                <c:pt idx="4">
                  <c:v>15</c:v>
                </c:pt>
                <c:pt idx="5">
                  <c:v>24</c:v>
                </c:pt>
                <c:pt idx="6">
                  <c:v>38</c:v>
                </c:pt>
                <c:pt idx="7">
                  <c:v>52</c:v>
                </c:pt>
                <c:pt idx="8">
                  <c:v>66</c:v>
                </c:pt>
                <c:pt idx="9">
                  <c:v>79</c:v>
                </c:pt>
                <c:pt idx="10">
                  <c:v>88</c:v>
                </c:pt>
                <c:pt idx="11">
                  <c:v>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4A3B8"/>
                    </a:solidFill>
                    <a:latin typeface="+mn-lt"/>
                  </a:defRPr>
                </a:pPr>
                <a:r>
                  <a:rPr sz="1000" b="0" i="0" u="none" strike="noStrike">
                    <a:solidFill>
                      <a:srgbClr val="94A3B8"/>
                    </a:solidFill>
                    <a:latin typeface="+mn-lt"/>
                  </a:rPr>
                  <a:t>Time (simulated steps)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26334D"/>
              </a:solidFill>
              <a:prstDash val="solid"/>
              <a:round/>
            </a:ln>
          </c:spPr>
        </c:majorGridlines>
        <c:title>
          <c:tx>
            <c:rich>
              <a:bodyPr/>
              <a:lstStyle/>
              <a:p>
                <a:pPr>
                  <a:defRPr sz="1000" b="0" i="0" u="none" strike="noStrike">
                    <a:solidFill>
                      <a:srgbClr val="94A3B8"/>
                    </a:solidFill>
                    <a:latin typeface="+mn-lt"/>
                  </a:defRPr>
                </a:pPr>
                <a:r>
                  <a:rPr sz="1000" b="0" i="0" u="none" strike="noStrike">
                    <a:solidFill>
                      <a:srgbClr val="94A3B8"/>
                    </a:solidFill>
                    <a:latin typeface="+mn-lt"/>
                  </a:rPr>
                  <a:t>Failure risk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majorUnit val="25"/>
      </c:valAx>
      <c:spPr>
        <a:solidFill>
          <a:srgbClr val="131C2E"/>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
Good evening. In Review 1 we showed our plan. Today we show what we have built.
We built four main parts. First, sensor scenarios that send readings into our data API, which saves them. Second, an AI model called XGBoost that estimates the failure risk of each reading. Third, an explanation using SHAP, which shows which inputs pushed the risk up. Fourth, a dashboard and database where sensor charts, alerts and history are visible in one place. A prediction is an estimated risk. It does not by itself confirm a physical fault.
Our backend passed 49 out of 49 automated tests, and the dashboard has 8 screens.
Now Aakash will explain how the system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Aakash.
This is how the system works, step by step.
Step one: sensor readings or simulator scenarios send data in.
Step two: our FastAPI backend checks the data and sends it to the right place.
Step three: the XGBoost model estimates the failure risk.
Step four: SHAP explains which input features influenced that prediction. SHAP is an explanation method, not a second model.
Step five: MongoDB stores the records.
Step six: the React dashboard shows risk, sensor trends, alerts and history.
We developed with the AI4I 2020 benchmark dataset and synthetic sensor scenarios. This validates the software workflow. It is not real hardware data.
In Review 1 our plan listed Streamlit, Isolation Forest and Random Forest. The final system uses XGBoost, SHAP and a React dashboard. If a judge asks why XGBoost, Aakash answers in his own words.
Now Hritu will show the demo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Hritu.
This is our demo story. We show three conditions, as the problem statement asks.
First, Normal: the machine is steady and the risk is low.
Second, Warning: sensor values slowly change and the risk goes up.
Third, Critical: the risk is high and the dashboard raises an alert.
The graph here is an example from our simulator, so you can see the shape. In the live demo, these numbers come from the real model.
Remember: a high risk is an estimate. A technician confirms the real fault.
Now Raushan will explain what we can claim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Raushan.
We want to be clear and honest about what we built.
Left side, implemented: XGBoost failure-risk prediction, SHAP explanations, a FastAPI backend with a MongoDB data layer, and a React dashboard with sensor charts, equipment views, prediction history and maintenance records.
Right side, limits: our readings are simulated, so they are not real hardware data. Benchmark results do not guarantee accuracy on every real machine. Real sensors need compatible hardware and validation. And a prediction supports a decision, but a technician confirms the fault.
If a judge asks where the data came from: AI4I 2020 benchmark data and synthetic sensor scenarios.
Now Raj will explain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 then everyone says thank you.
For Review 3 we plan six things. One, a what-if test: what happens if the workload goes up. Two, a maintenance simulation: do a virtual repair and see the health recover. Three, Last Good Hour: an estimate of the safe hours left. Four, action advice: what to inspect first. Five, machine priority: which machine needs help first. Six, final testing, including a phone check and a backup video.
We will add only what we can finish and test.
Summary line: Spindle Nadi does not only say a machine will fail. It says it is getting worse, why, and what to do.
Thank you. We are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94A3B8"/>
                </a:solidFill>
              </a:rPr>
              <a:t>Spindle Nadi  |  Review 2</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rgbClr val="F1F5F9"/>
                </a:solidFill>
              </a:rPr>
              <a:t>From plan to a working system</a:t>
            </a:r>
            <a:endParaRPr lang="en-US" sz="3200" dirty="0"/>
          </a:p>
        </p:txBody>
      </p:sp>
      <p:sp>
        <p:nvSpPr>
          <p:cNvPr id="3" name="Progress card 1"/>
          <p:cNvSpPr/>
          <p:nvPr/>
        </p:nvSpPr>
        <p:spPr>
          <a:xfrm>
            <a:off x="457200" y="1188720"/>
            <a:ext cx="5394960" cy="713232"/>
          </a:xfrm>
          <a:prstGeom prst="roundRect">
            <a:avLst>
              <a:gd name="adj" fmla="val 12821"/>
            </a:avLst>
          </a:prstGeom>
          <a:solidFill>
            <a:srgbClr val="131C2E"/>
          </a:solidFill>
          <a:ln w="9525">
            <a:solidFill>
              <a:srgbClr val="26334D"/>
            </a:solidFill>
            <a:prstDash val="solid"/>
          </a:ln>
        </p:spPr>
      </p:sp>
      <p:sp>
        <p:nvSpPr>
          <p:cNvPr id="4" name="Progress 1 circle"/>
          <p:cNvSpPr/>
          <p:nvPr/>
        </p:nvSpPr>
        <p:spPr>
          <a:xfrm>
            <a:off x="594360" y="1280160"/>
            <a:ext cx="530352" cy="530352"/>
          </a:xfrm>
          <a:prstGeom prst="ellipse">
            <a:avLst/>
          </a:prstGeom>
          <a:solidFill>
            <a:srgbClr val="38BDF8"/>
          </a:solidFill>
          <a:ln w="12700">
            <a:solidFill>
              <a:srgbClr val="38BDF8"/>
            </a:solidFill>
            <a:prstDash val="solid"/>
          </a:ln>
        </p:spPr>
      </p:sp>
      <p:pic>
        <p:nvPicPr>
          <p:cNvPr id="5" name="Progress 1 icon" descr="Progress 1">    </p:cNvPr>
          <p:cNvPicPr>
            <a:picLocks noChangeAspect="1"/>
          </p:cNvPicPr>
          <p:nvPr/>
        </p:nvPicPr>
        <p:blipFill>
          <a:blip r:embed="rId1"/>
          <a:stretch>
            <a:fillRect/>
          </a:stretch>
        </p:blipFill>
        <p:spPr>
          <a:xfrm>
            <a:off x="726948" y="1412748"/>
            <a:ext cx="265176" cy="265176"/>
          </a:xfrm>
          <a:prstGeom prst="rect">
            <a:avLst/>
          </a:prstGeom>
        </p:spPr>
      </p:pic>
      <p:sp>
        <p:nvSpPr>
          <p:cNvPr id="6" name="Text 3"/>
          <p:cNvSpPr txBox="1"/>
          <p:nvPr/>
        </p:nvSpPr>
        <p:spPr>
          <a:xfrm>
            <a:off x="1280160" y="1261872"/>
            <a:ext cx="4480560" cy="292608"/>
          </a:xfrm>
          <a:prstGeom prst="rect">
            <a:avLst/>
          </a:prstGeom>
          <a:noFill/>
          <a:ln/>
        </p:spPr>
        <p:txBody>
          <a:bodyPr wrap="square" lIns="0" tIns="0" rIns="0" bIns="0" rtlCol="0" anchor="ctr"/>
          <a:lstStyle/>
          <a:p>
            <a:pPr indent="0" marL="0">
              <a:buNone/>
            </a:pPr>
            <a:r>
              <a:rPr lang="en-US" sz="1600" b="1" dirty="0">
                <a:solidFill>
                  <a:srgbClr val="F1F5F9"/>
                </a:solidFill>
              </a:rPr>
              <a:t>Sensor scenarios + data API</a:t>
            </a:r>
            <a:endParaRPr lang="en-US" sz="1600" dirty="0"/>
          </a:p>
        </p:txBody>
      </p:sp>
      <p:sp>
        <p:nvSpPr>
          <p:cNvPr id="7" name="Text 4"/>
          <p:cNvSpPr txBox="1"/>
          <p:nvPr/>
        </p:nvSpPr>
        <p:spPr>
          <a:xfrm>
            <a:off x="1280160" y="1554480"/>
            <a:ext cx="4480560" cy="256032"/>
          </a:xfrm>
          <a:prstGeom prst="rect">
            <a:avLst/>
          </a:prstGeom>
          <a:noFill/>
          <a:ln/>
        </p:spPr>
        <p:txBody>
          <a:bodyPr wrap="square" lIns="0" tIns="0" rIns="0" bIns="0" rtlCol="0" anchor="ctr"/>
          <a:lstStyle/>
          <a:p>
            <a:pPr indent="0" marL="0">
              <a:buNone/>
            </a:pPr>
            <a:r>
              <a:rPr lang="en-US" sz="1200" dirty="0">
                <a:solidFill>
                  <a:srgbClr val="94A3B8"/>
                </a:solidFill>
              </a:rPr>
              <a:t>Sends readings in and saves every one</a:t>
            </a:r>
            <a:endParaRPr lang="en-US" sz="1200" dirty="0"/>
          </a:p>
        </p:txBody>
      </p:sp>
      <p:sp>
        <p:nvSpPr>
          <p:cNvPr id="8" name="Progress card 2"/>
          <p:cNvSpPr/>
          <p:nvPr/>
        </p:nvSpPr>
        <p:spPr>
          <a:xfrm>
            <a:off x="457200" y="1993392"/>
            <a:ext cx="5394960" cy="713232"/>
          </a:xfrm>
          <a:prstGeom prst="roundRect">
            <a:avLst>
              <a:gd name="adj" fmla="val 12821"/>
            </a:avLst>
          </a:prstGeom>
          <a:solidFill>
            <a:srgbClr val="131C2E"/>
          </a:solidFill>
          <a:ln w="9525">
            <a:solidFill>
              <a:srgbClr val="26334D"/>
            </a:solidFill>
            <a:prstDash val="solid"/>
          </a:ln>
        </p:spPr>
      </p:sp>
      <p:sp>
        <p:nvSpPr>
          <p:cNvPr id="9" name="Progress 2 circle"/>
          <p:cNvSpPr/>
          <p:nvPr/>
        </p:nvSpPr>
        <p:spPr>
          <a:xfrm>
            <a:off x="594360" y="2084832"/>
            <a:ext cx="530352" cy="530352"/>
          </a:xfrm>
          <a:prstGeom prst="ellipse">
            <a:avLst/>
          </a:prstGeom>
          <a:solidFill>
            <a:srgbClr val="38BDF8"/>
          </a:solidFill>
          <a:ln w="12700">
            <a:solidFill>
              <a:srgbClr val="38BDF8"/>
            </a:solidFill>
            <a:prstDash val="solid"/>
          </a:ln>
        </p:spPr>
      </p:sp>
      <p:pic>
        <p:nvPicPr>
          <p:cNvPr id="10" name="Progress 2 icon" descr="Progress 2">    </p:cNvPr>
          <p:cNvPicPr>
            <a:picLocks noChangeAspect="1"/>
          </p:cNvPicPr>
          <p:nvPr/>
        </p:nvPicPr>
        <p:blipFill>
          <a:blip r:embed="rId2"/>
          <a:stretch>
            <a:fillRect/>
          </a:stretch>
        </p:blipFill>
        <p:spPr>
          <a:xfrm>
            <a:off x="726948" y="2217420"/>
            <a:ext cx="265176" cy="265176"/>
          </a:xfrm>
          <a:prstGeom prst="rect">
            <a:avLst/>
          </a:prstGeom>
        </p:spPr>
      </p:pic>
      <p:sp>
        <p:nvSpPr>
          <p:cNvPr id="11" name="Text 7"/>
          <p:cNvSpPr txBox="1"/>
          <p:nvPr/>
        </p:nvSpPr>
        <p:spPr>
          <a:xfrm>
            <a:off x="1280160" y="2066544"/>
            <a:ext cx="4480560" cy="292608"/>
          </a:xfrm>
          <a:prstGeom prst="rect">
            <a:avLst/>
          </a:prstGeom>
          <a:noFill/>
          <a:ln/>
        </p:spPr>
        <p:txBody>
          <a:bodyPr wrap="square" lIns="0" tIns="0" rIns="0" bIns="0" rtlCol="0" anchor="ctr"/>
          <a:lstStyle/>
          <a:p>
            <a:pPr indent="0" marL="0">
              <a:buNone/>
            </a:pPr>
            <a:r>
              <a:rPr lang="en-US" sz="1600" b="1" dirty="0">
                <a:solidFill>
                  <a:srgbClr val="F1F5F9"/>
                </a:solidFill>
              </a:rPr>
              <a:t>AI risk model (XGBoost)</a:t>
            </a:r>
            <a:endParaRPr lang="en-US" sz="1600" dirty="0"/>
          </a:p>
        </p:txBody>
      </p:sp>
      <p:sp>
        <p:nvSpPr>
          <p:cNvPr id="12" name="Text 8"/>
          <p:cNvSpPr txBox="1"/>
          <p:nvPr/>
        </p:nvSpPr>
        <p:spPr>
          <a:xfrm>
            <a:off x="1280160" y="2359152"/>
            <a:ext cx="4480560" cy="256032"/>
          </a:xfrm>
          <a:prstGeom prst="rect">
            <a:avLst/>
          </a:prstGeom>
          <a:noFill/>
          <a:ln/>
        </p:spPr>
        <p:txBody>
          <a:bodyPr wrap="square" lIns="0" tIns="0" rIns="0" bIns="0" rtlCol="0" anchor="ctr"/>
          <a:lstStyle/>
          <a:p>
            <a:pPr indent="0" marL="0">
              <a:buNone/>
            </a:pPr>
            <a:r>
              <a:rPr lang="en-US" sz="1200" dirty="0">
                <a:solidFill>
                  <a:srgbClr val="94A3B8"/>
                </a:solidFill>
              </a:rPr>
              <a:t>Estimates the failure risk of each reading</a:t>
            </a:r>
            <a:endParaRPr lang="en-US" sz="1200" dirty="0"/>
          </a:p>
        </p:txBody>
      </p:sp>
      <p:sp>
        <p:nvSpPr>
          <p:cNvPr id="13" name="Progress card 3"/>
          <p:cNvSpPr/>
          <p:nvPr/>
        </p:nvSpPr>
        <p:spPr>
          <a:xfrm>
            <a:off x="457200" y="2798064"/>
            <a:ext cx="5394960" cy="713232"/>
          </a:xfrm>
          <a:prstGeom prst="roundRect">
            <a:avLst>
              <a:gd name="adj" fmla="val 12821"/>
            </a:avLst>
          </a:prstGeom>
          <a:solidFill>
            <a:srgbClr val="131C2E"/>
          </a:solidFill>
          <a:ln w="9525">
            <a:solidFill>
              <a:srgbClr val="26334D"/>
            </a:solidFill>
            <a:prstDash val="solid"/>
          </a:ln>
        </p:spPr>
      </p:sp>
      <p:sp>
        <p:nvSpPr>
          <p:cNvPr id="14" name="Progress 3 circle"/>
          <p:cNvSpPr/>
          <p:nvPr/>
        </p:nvSpPr>
        <p:spPr>
          <a:xfrm>
            <a:off x="594360" y="2889504"/>
            <a:ext cx="530352" cy="530352"/>
          </a:xfrm>
          <a:prstGeom prst="ellipse">
            <a:avLst/>
          </a:prstGeom>
          <a:solidFill>
            <a:srgbClr val="38BDF8"/>
          </a:solidFill>
          <a:ln w="12700">
            <a:solidFill>
              <a:srgbClr val="38BDF8"/>
            </a:solidFill>
            <a:prstDash val="solid"/>
          </a:ln>
        </p:spPr>
      </p:sp>
      <p:pic>
        <p:nvPicPr>
          <p:cNvPr id="15" name="Progress 3 icon" descr="Progress 3">    </p:cNvPr>
          <p:cNvPicPr>
            <a:picLocks noChangeAspect="1"/>
          </p:cNvPicPr>
          <p:nvPr/>
        </p:nvPicPr>
        <p:blipFill>
          <a:blip r:embed="rId3"/>
          <a:stretch>
            <a:fillRect/>
          </a:stretch>
        </p:blipFill>
        <p:spPr>
          <a:xfrm>
            <a:off x="726948" y="3022092"/>
            <a:ext cx="265176" cy="265176"/>
          </a:xfrm>
          <a:prstGeom prst="rect">
            <a:avLst/>
          </a:prstGeom>
        </p:spPr>
      </p:pic>
      <p:sp>
        <p:nvSpPr>
          <p:cNvPr id="16" name="Text 11"/>
          <p:cNvSpPr txBox="1"/>
          <p:nvPr/>
        </p:nvSpPr>
        <p:spPr>
          <a:xfrm>
            <a:off x="1280160" y="2871216"/>
            <a:ext cx="4480560" cy="292608"/>
          </a:xfrm>
          <a:prstGeom prst="rect">
            <a:avLst/>
          </a:prstGeom>
          <a:noFill/>
          <a:ln/>
        </p:spPr>
        <p:txBody>
          <a:bodyPr wrap="square" lIns="0" tIns="0" rIns="0" bIns="0" rtlCol="0" anchor="ctr"/>
          <a:lstStyle/>
          <a:p>
            <a:pPr indent="0" marL="0">
              <a:buNone/>
            </a:pPr>
            <a:r>
              <a:rPr lang="en-US" sz="1600" b="1" dirty="0">
                <a:solidFill>
                  <a:srgbClr val="F1F5F9"/>
                </a:solidFill>
              </a:rPr>
              <a:t>"WHY?" explanation (SHAP)</a:t>
            </a:r>
            <a:endParaRPr lang="en-US" sz="1600" dirty="0"/>
          </a:p>
        </p:txBody>
      </p:sp>
      <p:sp>
        <p:nvSpPr>
          <p:cNvPr id="17" name="Text 12"/>
          <p:cNvSpPr txBox="1"/>
          <p:nvPr/>
        </p:nvSpPr>
        <p:spPr>
          <a:xfrm>
            <a:off x="1280160" y="3163824"/>
            <a:ext cx="4480560" cy="256032"/>
          </a:xfrm>
          <a:prstGeom prst="rect">
            <a:avLst/>
          </a:prstGeom>
          <a:noFill/>
          <a:ln/>
        </p:spPr>
        <p:txBody>
          <a:bodyPr wrap="square" lIns="0" tIns="0" rIns="0" bIns="0" rtlCol="0" anchor="ctr"/>
          <a:lstStyle/>
          <a:p>
            <a:pPr indent="0" marL="0">
              <a:buNone/>
            </a:pPr>
            <a:r>
              <a:rPr lang="en-US" sz="1200" dirty="0">
                <a:solidFill>
                  <a:srgbClr val="94A3B8"/>
                </a:solidFill>
              </a:rPr>
              <a:t>Shows which inputs pushed the risk up</a:t>
            </a:r>
            <a:endParaRPr lang="en-US" sz="1200" dirty="0"/>
          </a:p>
        </p:txBody>
      </p:sp>
      <p:sp>
        <p:nvSpPr>
          <p:cNvPr id="18" name="Progress card 4"/>
          <p:cNvSpPr/>
          <p:nvPr/>
        </p:nvSpPr>
        <p:spPr>
          <a:xfrm>
            <a:off x="457200" y="3602736"/>
            <a:ext cx="5394960" cy="713232"/>
          </a:xfrm>
          <a:prstGeom prst="roundRect">
            <a:avLst>
              <a:gd name="adj" fmla="val 12821"/>
            </a:avLst>
          </a:prstGeom>
          <a:solidFill>
            <a:srgbClr val="131C2E"/>
          </a:solidFill>
          <a:ln w="9525">
            <a:solidFill>
              <a:srgbClr val="26334D"/>
            </a:solidFill>
            <a:prstDash val="solid"/>
          </a:ln>
        </p:spPr>
      </p:sp>
      <p:sp>
        <p:nvSpPr>
          <p:cNvPr id="19" name="Progress 4 circle"/>
          <p:cNvSpPr/>
          <p:nvPr/>
        </p:nvSpPr>
        <p:spPr>
          <a:xfrm>
            <a:off x="594360" y="3694176"/>
            <a:ext cx="530352" cy="530352"/>
          </a:xfrm>
          <a:prstGeom prst="ellipse">
            <a:avLst/>
          </a:prstGeom>
          <a:solidFill>
            <a:srgbClr val="38BDF8"/>
          </a:solidFill>
          <a:ln w="12700">
            <a:solidFill>
              <a:srgbClr val="38BDF8"/>
            </a:solidFill>
            <a:prstDash val="solid"/>
          </a:ln>
        </p:spPr>
      </p:sp>
      <p:pic>
        <p:nvPicPr>
          <p:cNvPr id="20" name="Progress 4 icon" descr="Progress 4">    </p:cNvPr>
          <p:cNvPicPr>
            <a:picLocks noChangeAspect="1"/>
          </p:cNvPicPr>
          <p:nvPr/>
        </p:nvPicPr>
        <p:blipFill>
          <a:blip r:embed="rId4"/>
          <a:stretch>
            <a:fillRect/>
          </a:stretch>
        </p:blipFill>
        <p:spPr>
          <a:xfrm>
            <a:off x="726948" y="3826764"/>
            <a:ext cx="265176" cy="265176"/>
          </a:xfrm>
          <a:prstGeom prst="rect">
            <a:avLst/>
          </a:prstGeom>
        </p:spPr>
      </p:pic>
      <p:sp>
        <p:nvSpPr>
          <p:cNvPr id="21" name="Text 15"/>
          <p:cNvSpPr txBox="1"/>
          <p:nvPr/>
        </p:nvSpPr>
        <p:spPr>
          <a:xfrm>
            <a:off x="1280160" y="3675888"/>
            <a:ext cx="4480560" cy="292608"/>
          </a:xfrm>
          <a:prstGeom prst="rect">
            <a:avLst/>
          </a:prstGeom>
          <a:noFill/>
          <a:ln/>
        </p:spPr>
        <p:txBody>
          <a:bodyPr wrap="square" lIns="0" tIns="0" rIns="0" bIns="0" rtlCol="0" anchor="ctr"/>
          <a:lstStyle/>
          <a:p>
            <a:pPr indent="0" marL="0">
              <a:buNone/>
            </a:pPr>
            <a:r>
              <a:rPr lang="en-US" sz="1600" b="1" dirty="0">
                <a:solidFill>
                  <a:srgbClr val="F1F5F9"/>
                </a:solidFill>
              </a:rPr>
              <a:t>Dashboard + database</a:t>
            </a:r>
            <a:endParaRPr lang="en-US" sz="1600" dirty="0"/>
          </a:p>
        </p:txBody>
      </p:sp>
      <p:sp>
        <p:nvSpPr>
          <p:cNvPr id="22" name="Text 16"/>
          <p:cNvSpPr txBox="1"/>
          <p:nvPr/>
        </p:nvSpPr>
        <p:spPr>
          <a:xfrm>
            <a:off x="1280160" y="3968496"/>
            <a:ext cx="4480560" cy="256032"/>
          </a:xfrm>
          <a:prstGeom prst="rect">
            <a:avLst/>
          </a:prstGeom>
          <a:noFill/>
          <a:ln/>
        </p:spPr>
        <p:txBody>
          <a:bodyPr wrap="square" lIns="0" tIns="0" rIns="0" bIns="0" rtlCol="0" anchor="ctr"/>
          <a:lstStyle/>
          <a:p>
            <a:pPr indent="0" marL="0">
              <a:buNone/>
            </a:pPr>
            <a:r>
              <a:rPr lang="en-US" sz="1200" dirty="0">
                <a:solidFill>
                  <a:srgbClr val="94A3B8"/>
                </a:solidFill>
              </a:rPr>
              <a:t>Sensor charts, alerts and history in one place</a:t>
            </a:r>
            <a:endParaRPr lang="en-US" sz="1200" dirty="0"/>
          </a:p>
        </p:txBody>
      </p:sp>
      <p:sp>
        <p:nvSpPr>
          <p:cNvPr id="23" name="Stat card 1"/>
          <p:cNvSpPr/>
          <p:nvPr/>
        </p:nvSpPr>
        <p:spPr>
          <a:xfrm>
            <a:off x="6217920" y="1234440"/>
            <a:ext cx="2468880" cy="1325880"/>
          </a:xfrm>
          <a:prstGeom prst="roundRect">
            <a:avLst>
              <a:gd name="adj" fmla="val 6897"/>
            </a:avLst>
          </a:prstGeom>
          <a:solidFill>
            <a:srgbClr val="131C2E"/>
          </a:solidFill>
          <a:ln w="9525">
            <a:solidFill>
              <a:srgbClr val="26334D"/>
            </a:solidFill>
            <a:prstDash val="solid"/>
          </a:ln>
        </p:spPr>
      </p:sp>
      <p:sp>
        <p:nvSpPr>
          <p:cNvPr id="24" name="Text 18"/>
          <p:cNvSpPr txBox="1"/>
          <p:nvPr/>
        </p:nvSpPr>
        <p:spPr>
          <a:xfrm>
            <a:off x="6217920" y="1344168"/>
            <a:ext cx="2468880" cy="731520"/>
          </a:xfrm>
          <a:prstGeom prst="rect">
            <a:avLst/>
          </a:prstGeom>
          <a:noFill/>
          <a:ln/>
        </p:spPr>
        <p:txBody>
          <a:bodyPr wrap="square" lIns="0" tIns="0" rIns="0" bIns="0" rtlCol="0" anchor="ctr"/>
          <a:lstStyle/>
          <a:p>
            <a:pPr algn="ctr" indent="0" marL="0">
              <a:buNone/>
            </a:pPr>
            <a:r>
              <a:rPr lang="en-US" sz="4000" b="1" dirty="0">
                <a:solidFill>
                  <a:srgbClr val="10B981"/>
                </a:solidFill>
              </a:rPr>
              <a:t>49 / 49</a:t>
            </a:r>
            <a:endParaRPr lang="en-US" sz="4000" dirty="0"/>
          </a:p>
        </p:txBody>
      </p:sp>
      <p:sp>
        <p:nvSpPr>
          <p:cNvPr id="25" name="Text 19"/>
          <p:cNvSpPr txBox="1"/>
          <p:nvPr/>
        </p:nvSpPr>
        <p:spPr>
          <a:xfrm>
            <a:off x="6309360" y="2075688"/>
            <a:ext cx="2286000" cy="365760"/>
          </a:xfrm>
          <a:prstGeom prst="rect">
            <a:avLst/>
          </a:prstGeom>
          <a:noFill/>
          <a:ln/>
        </p:spPr>
        <p:txBody>
          <a:bodyPr wrap="square" lIns="0" tIns="0" rIns="0" bIns="0" rtlCol="0" anchor="ctr"/>
          <a:lstStyle/>
          <a:p>
            <a:pPr algn="ctr" indent="0" marL="0">
              <a:buNone/>
            </a:pPr>
            <a:r>
              <a:rPr lang="en-US" sz="1200" dirty="0">
                <a:solidFill>
                  <a:srgbClr val="94A3B8"/>
                </a:solidFill>
              </a:rPr>
              <a:t>automated tests passed</a:t>
            </a:r>
            <a:endParaRPr lang="en-US" sz="1200" dirty="0"/>
          </a:p>
        </p:txBody>
      </p:sp>
      <p:sp>
        <p:nvSpPr>
          <p:cNvPr id="26" name="Stat card 2"/>
          <p:cNvSpPr/>
          <p:nvPr/>
        </p:nvSpPr>
        <p:spPr>
          <a:xfrm>
            <a:off x="6217920" y="2743200"/>
            <a:ext cx="2468880" cy="1325880"/>
          </a:xfrm>
          <a:prstGeom prst="roundRect">
            <a:avLst>
              <a:gd name="adj" fmla="val 6897"/>
            </a:avLst>
          </a:prstGeom>
          <a:solidFill>
            <a:srgbClr val="131C2E"/>
          </a:solidFill>
          <a:ln w="9525">
            <a:solidFill>
              <a:srgbClr val="26334D"/>
            </a:solidFill>
            <a:prstDash val="solid"/>
          </a:ln>
        </p:spPr>
      </p:sp>
      <p:sp>
        <p:nvSpPr>
          <p:cNvPr id="27" name="Text 21"/>
          <p:cNvSpPr txBox="1"/>
          <p:nvPr/>
        </p:nvSpPr>
        <p:spPr>
          <a:xfrm>
            <a:off x="6217920" y="2852928"/>
            <a:ext cx="2468880" cy="731520"/>
          </a:xfrm>
          <a:prstGeom prst="rect">
            <a:avLst/>
          </a:prstGeom>
          <a:noFill/>
          <a:ln/>
        </p:spPr>
        <p:txBody>
          <a:bodyPr wrap="square" lIns="0" tIns="0" rIns="0" bIns="0" rtlCol="0" anchor="ctr"/>
          <a:lstStyle/>
          <a:p>
            <a:pPr algn="ctr" indent="0" marL="0">
              <a:buNone/>
            </a:pPr>
            <a:r>
              <a:rPr lang="en-US" sz="4000" b="1" dirty="0">
                <a:solidFill>
                  <a:srgbClr val="38BDF8"/>
                </a:solidFill>
              </a:rPr>
              <a:t>8</a:t>
            </a:r>
            <a:endParaRPr lang="en-US" sz="4000" dirty="0"/>
          </a:p>
        </p:txBody>
      </p:sp>
      <p:sp>
        <p:nvSpPr>
          <p:cNvPr id="28" name="Text 22"/>
          <p:cNvSpPr txBox="1"/>
          <p:nvPr/>
        </p:nvSpPr>
        <p:spPr>
          <a:xfrm>
            <a:off x="6309360" y="3584448"/>
            <a:ext cx="2286000" cy="365760"/>
          </a:xfrm>
          <a:prstGeom prst="rect">
            <a:avLst/>
          </a:prstGeom>
          <a:noFill/>
          <a:ln/>
        </p:spPr>
        <p:txBody>
          <a:bodyPr wrap="square" lIns="0" tIns="0" rIns="0" bIns="0" rtlCol="0" anchor="ctr"/>
          <a:lstStyle/>
          <a:p>
            <a:pPr algn="ctr" indent="0" marL="0">
              <a:buNone/>
            </a:pPr>
            <a:r>
              <a:rPr lang="en-US" sz="1200" dirty="0">
                <a:solidFill>
                  <a:srgbClr val="94A3B8"/>
                </a:solidFill>
              </a:rPr>
              <a:t>dashboard screens built</a:t>
            </a:r>
            <a:endParaRPr lang="en-US" sz="1200" dirty="0"/>
          </a:p>
        </p:txBody>
      </p:sp>
      <p:sp>
        <p:nvSpPr>
          <p:cNvPr id="29" name="Text 23"/>
          <p:cNvSpPr txBox="1"/>
          <p:nvPr/>
        </p:nvSpPr>
        <p:spPr>
          <a:xfrm>
            <a:off x="457200" y="4389120"/>
            <a:ext cx="7315200" cy="228600"/>
          </a:xfrm>
          <a:prstGeom prst="rect">
            <a:avLst/>
          </a:prstGeom>
          <a:noFill/>
          <a:ln/>
        </p:spPr>
        <p:txBody>
          <a:bodyPr wrap="square" lIns="0" tIns="0" rIns="0" bIns="0" rtlCol="0" anchor="ctr"/>
          <a:lstStyle/>
          <a:p>
            <a:pPr indent="0" marL="0">
              <a:buNone/>
            </a:pPr>
            <a:r>
              <a:rPr lang="en-US" sz="1100" i="1" dirty="0">
                <a:solidFill>
                  <a:srgbClr val="38BDF8"/>
                </a:solidFill>
              </a:rPr>
              <a:t>Review 1 was the plan. Review 2 shows it running.</a:t>
            </a:r>
            <a:endParaRPr lang="en-US" sz="1100" dirty="0"/>
          </a:p>
        </p:txBody>
      </p:sp>
      <p:sp>
        <p:nvSpPr>
          <p:cNvPr id="30" name="Text 24"/>
          <p:cNvSpPr txBox="1"/>
          <p:nvPr/>
        </p:nvSpPr>
        <p:spPr>
          <a:xfrm>
            <a:off x="2377440" y="4754880"/>
            <a:ext cx="5760720" cy="228600"/>
          </a:xfrm>
          <a:prstGeom prst="rect">
            <a:avLst/>
          </a:prstGeom>
          <a:noFill/>
          <a:ln/>
        </p:spPr>
        <p:txBody>
          <a:bodyPr wrap="square" lIns="0" tIns="0" rIns="0" bIns="0" rtlCol="0" anchor="ctr"/>
          <a:lstStyle/>
          <a:p>
            <a:pPr algn="r" indent="0" marL="0">
              <a:buNone/>
            </a:pPr>
            <a:r>
              <a:rPr lang="en-US" sz="1000" dirty="0">
                <a:solidFill>
                  <a:srgbClr val="F1F5F9"/>
                </a:solidFill>
              </a:rPr>
              <a:t>Team: Aakash Barnawal  |  Rajkishor Kushwaha  |  MD Raushan Ali  |  Hritu Raj Thakur</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rgbClr val="F1F5F9"/>
                </a:solidFill>
              </a:rPr>
              <a:t>How Spindle Nadi works</a:t>
            </a:r>
            <a:endParaRPr lang="en-US" sz="3200" dirty="0"/>
          </a:p>
        </p:txBody>
      </p:sp>
      <p:sp>
        <p:nvSpPr>
          <p:cNvPr id="3" name="Flow card 1"/>
          <p:cNvSpPr/>
          <p:nvPr/>
        </p:nvSpPr>
        <p:spPr>
          <a:xfrm>
            <a:off x="457200" y="1234440"/>
            <a:ext cx="1188720" cy="2148840"/>
          </a:xfrm>
          <a:prstGeom prst="roundRect">
            <a:avLst>
              <a:gd name="adj" fmla="val 7692"/>
            </a:avLst>
          </a:prstGeom>
          <a:solidFill>
            <a:srgbClr val="131C2E"/>
          </a:solidFill>
          <a:ln w="9525">
            <a:solidFill>
              <a:srgbClr val="26334D"/>
            </a:solidFill>
            <a:prstDash val="solid"/>
          </a:ln>
        </p:spPr>
      </p:sp>
      <p:sp>
        <p:nvSpPr>
          <p:cNvPr id="4" name="Flow 1 circle"/>
          <p:cNvSpPr/>
          <p:nvPr/>
        </p:nvSpPr>
        <p:spPr>
          <a:xfrm>
            <a:off x="800100" y="1371600"/>
            <a:ext cx="502920" cy="502920"/>
          </a:xfrm>
          <a:prstGeom prst="ellipse">
            <a:avLst/>
          </a:prstGeom>
          <a:solidFill>
            <a:srgbClr val="38BDF8"/>
          </a:solidFill>
          <a:ln w="12700">
            <a:solidFill>
              <a:srgbClr val="38BDF8"/>
            </a:solidFill>
            <a:prstDash val="solid"/>
          </a:ln>
        </p:spPr>
      </p:sp>
      <p:pic>
        <p:nvPicPr>
          <p:cNvPr id="5" name="Flow 1 icon" descr="Flow 1">    </p:cNvPr>
          <p:cNvPicPr>
            <a:picLocks noChangeAspect="1"/>
          </p:cNvPicPr>
          <p:nvPr/>
        </p:nvPicPr>
        <p:blipFill>
          <a:blip r:embed="rId1"/>
          <a:stretch>
            <a:fillRect/>
          </a:stretch>
        </p:blipFill>
        <p:spPr>
          <a:xfrm>
            <a:off x="925830" y="1497330"/>
            <a:ext cx="251460" cy="251460"/>
          </a:xfrm>
          <a:prstGeom prst="rect">
            <a:avLst/>
          </a:prstGeom>
        </p:spPr>
      </p:pic>
      <p:sp>
        <p:nvSpPr>
          <p:cNvPr id="6" name="Text 3"/>
          <p:cNvSpPr txBox="1"/>
          <p:nvPr/>
        </p:nvSpPr>
        <p:spPr>
          <a:xfrm>
            <a:off x="502920" y="2011680"/>
            <a:ext cx="1097280" cy="457200"/>
          </a:xfrm>
          <a:prstGeom prst="rect">
            <a:avLst/>
          </a:prstGeom>
          <a:noFill/>
          <a:ln/>
        </p:spPr>
        <p:txBody>
          <a:bodyPr wrap="square" lIns="0" tIns="0" rIns="0" bIns="0" rtlCol="0" anchor="ctr"/>
          <a:lstStyle/>
          <a:p>
            <a:pPr algn="ctr" indent="0" marL="0">
              <a:buNone/>
            </a:pPr>
            <a:r>
              <a:rPr lang="en-US" sz="1250" b="1" dirty="0">
                <a:solidFill>
                  <a:srgbClr val="F1F5F9"/>
                </a:solidFill>
              </a:rPr>
              <a:t>Sensor / Simulator</a:t>
            </a:r>
            <a:endParaRPr lang="en-US" sz="1250" dirty="0"/>
          </a:p>
        </p:txBody>
      </p:sp>
      <p:sp>
        <p:nvSpPr>
          <p:cNvPr id="7" name="Text 4"/>
          <p:cNvSpPr txBox="1"/>
          <p:nvPr/>
        </p:nvSpPr>
        <p:spPr>
          <a:xfrm>
            <a:off x="530352" y="2514600"/>
            <a:ext cx="1042416" cy="777240"/>
          </a:xfrm>
          <a:prstGeom prst="rect">
            <a:avLst/>
          </a:prstGeom>
          <a:noFill/>
          <a:ln/>
        </p:spPr>
        <p:txBody>
          <a:bodyPr wrap="square" lIns="0" tIns="0" rIns="0" bIns="0" rtlCol="0" anchor="t"/>
          <a:lstStyle/>
          <a:p>
            <a:pPr algn="ctr" indent="0" marL="0">
              <a:buNone/>
            </a:pPr>
            <a:r>
              <a:rPr lang="en-US" sz="1050" dirty="0">
                <a:solidFill>
                  <a:srgbClr val="94A3B8"/>
                </a:solidFill>
              </a:rPr>
              <a:t>Sends readings in</a:t>
            </a:r>
            <a:endParaRPr lang="en-US" sz="1050" dirty="0"/>
          </a:p>
        </p:txBody>
      </p:sp>
      <p:sp>
        <p:nvSpPr>
          <p:cNvPr id="8" name="Arrow 1"/>
          <p:cNvSpPr/>
          <p:nvPr/>
        </p:nvSpPr>
        <p:spPr>
          <a:xfrm>
            <a:off x="1664208" y="2194560"/>
            <a:ext cx="164592" cy="201168"/>
          </a:xfrm>
          <a:prstGeom prst="rightArrow">
            <a:avLst/>
          </a:prstGeom>
          <a:solidFill>
            <a:srgbClr val="38BDF8"/>
          </a:solidFill>
          <a:ln w="12700">
            <a:solidFill>
              <a:srgbClr val="38BDF8"/>
            </a:solidFill>
            <a:prstDash val="solid"/>
          </a:ln>
        </p:spPr>
      </p:sp>
      <p:sp>
        <p:nvSpPr>
          <p:cNvPr id="9" name="Flow card 2"/>
          <p:cNvSpPr/>
          <p:nvPr/>
        </p:nvSpPr>
        <p:spPr>
          <a:xfrm>
            <a:off x="1847088" y="1234440"/>
            <a:ext cx="1188720" cy="2148840"/>
          </a:xfrm>
          <a:prstGeom prst="roundRect">
            <a:avLst>
              <a:gd name="adj" fmla="val 7692"/>
            </a:avLst>
          </a:prstGeom>
          <a:solidFill>
            <a:srgbClr val="131C2E"/>
          </a:solidFill>
          <a:ln w="9525">
            <a:solidFill>
              <a:srgbClr val="26334D"/>
            </a:solidFill>
            <a:prstDash val="solid"/>
          </a:ln>
        </p:spPr>
      </p:sp>
      <p:sp>
        <p:nvSpPr>
          <p:cNvPr id="10" name="Flow 2 circle"/>
          <p:cNvSpPr/>
          <p:nvPr/>
        </p:nvSpPr>
        <p:spPr>
          <a:xfrm>
            <a:off x="2189988" y="1371600"/>
            <a:ext cx="502920" cy="502920"/>
          </a:xfrm>
          <a:prstGeom prst="ellipse">
            <a:avLst/>
          </a:prstGeom>
          <a:solidFill>
            <a:srgbClr val="38BDF8"/>
          </a:solidFill>
          <a:ln w="12700">
            <a:solidFill>
              <a:srgbClr val="38BDF8"/>
            </a:solidFill>
            <a:prstDash val="solid"/>
          </a:ln>
        </p:spPr>
      </p:sp>
      <p:pic>
        <p:nvPicPr>
          <p:cNvPr id="11" name="Flow 2 icon" descr="Flow 2">    </p:cNvPr>
          <p:cNvPicPr>
            <a:picLocks noChangeAspect="1"/>
          </p:cNvPicPr>
          <p:nvPr/>
        </p:nvPicPr>
        <p:blipFill>
          <a:blip r:embed="rId2"/>
          <a:stretch>
            <a:fillRect/>
          </a:stretch>
        </p:blipFill>
        <p:spPr>
          <a:xfrm>
            <a:off x="2315718" y="1497330"/>
            <a:ext cx="251460" cy="251460"/>
          </a:xfrm>
          <a:prstGeom prst="rect">
            <a:avLst/>
          </a:prstGeom>
        </p:spPr>
      </p:pic>
      <p:sp>
        <p:nvSpPr>
          <p:cNvPr id="12" name="Text 8"/>
          <p:cNvSpPr txBox="1"/>
          <p:nvPr/>
        </p:nvSpPr>
        <p:spPr>
          <a:xfrm>
            <a:off x="1892808" y="2011680"/>
            <a:ext cx="1097280" cy="457200"/>
          </a:xfrm>
          <a:prstGeom prst="rect">
            <a:avLst/>
          </a:prstGeom>
          <a:noFill/>
          <a:ln/>
        </p:spPr>
        <p:txBody>
          <a:bodyPr wrap="square" lIns="0" tIns="0" rIns="0" bIns="0" rtlCol="0" anchor="ctr"/>
          <a:lstStyle/>
          <a:p>
            <a:pPr algn="ctr" indent="0" marL="0">
              <a:buNone/>
            </a:pPr>
            <a:r>
              <a:rPr lang="en-US" sz="1250" b="1" dirty="0">
                <a:solidFill>
                  <a:srgbClr val="F1F5F9"/>
                </a:solidFill>
              </a:rPr>
              <a:t>FastAPI</a:t>
            </a:r>
            <a:endParaRPr lang="en-US" sz="1250" dirty="0"/>
          </a:p>
        </p:txBody>
      </p:sp>
      <p:sp>
        <p:nvSpPr>
          <p:cNvPr id="13" name="Text 9"/>
          <p:cNvSpPr txBox="1"/>
          <p:nvPr/>
        </p:nvSpPr>
        <p:spPr>
          <a:xfrm>
            <a:off x="1920240" y="2514600"/>
            <a:ext cx="1042416" cy="777240"/>
          </a:xfrm>
          <a:prstGeom prst="rect">
            <a:avLst/>
          </a:prstGeom>
          <a:noFill/>
          <a:ln/>
        </p:spPr>
        <p:txBody>
          <a:bodyPr wrap="square" lIns="0" tIns="0" rIns="0" bIns="0" rtlCol="0" anchor="t"/>
          <a:lstStyle/>
          <a:p>
            <a:pPr algn="ctr" indent="0" marL="0">
              <a:buNone/>
            </a:pPr>
            <a:r>
              <a:rPr lang="en-US" sz="1050" dirty="0">
                <a:solidFill>
                  <a:srgbClr val="94A3B8"/>
                </a:solidFill>
              </a:rPr>
              <a:t>Checks and routes the data</a:t>
            </a:r>
            <a:endParaRPr lang="en-US" sz="1050" dirty="0"/>
          </a:p>
        </p:txBody>
      </p:sp>
      <p:sp>
        <p:nvSpPr>
          <p:cNvPr id="14" name="Arrow 2"/>
          <p:cNvSpPr/>
          <p:nvPr/>
        </p:nvSpPr>
        <p:spPr>
          <a:xfrm>
            <a:off x="3054096" y="2194560"/>
            <a:ext cx="164592" cy="201168"/>
          </a:xfrm>
          <a:prstGeom prst="rightArrow">
            <a:avLst/>
          </a:prstGeom>
          <a:solidFill>
            <a:srgbClr val="38BDF8"/>
          </a:solidFill>
          <a:ln w="12700">
            <a:solidFill>
              <a:srgbClr val="38BDF8"/>
            </a:solidFill>
            <a:prstDash val="solid"/>
          </a:ln>
        </p:spPr>
      </p:sp>
      <p:sp>
        <p:nvSpPr>
          <p:cNvPr id="15" name="Flow card 3"/>
          <p:cNvSpPr/>
          <p:nvPr/>
        </p:nvSpPr>
        <p:spPr>
          <a:xfrm>
            <a:off x="3236976" y="1234440"/>
            <a:ext cx="1188720" cy="2148840"/>
          </a:xfrm>
          <a:prstGeom prst="roundRect">
            <a:avLst>
              <a:gd name="adj" fmla="val 7692"/>
            </a:avLst>
          </a:prstGeom>
          <a:solidFill>
            <a:srgbClr val="131C2E"/>
          </a:solidFill>
          <a:ln w="9525">
            <a:solidFill>
              <a:srgbClr val="26334D"/>
            </a:solidFill>
            <a:prstDash val="solid"/>
          </a:ln>
        </p:spPr>
      </p:sp>
      <p:sp>
        <p:nvSpPr>
          <p:cNvPr id="16" name="Flow 3 circle"/>
          <p:cNvSpPr/>
          <p:nvPr/>
        </p:nvSpPr>
        <p:spPr>
          <a:xfrm>
            <a:off x="3579876" y="1371600"/>
            <a:ext cx="502920" cy="502920"/>
          </a:xfrm>
          <a:prstGeom prst="ellipse">
            <a:avLst/>
          </a:prstGeom>
          <a:solidFill>
            <a:srgbClr val="38BDF8"/>
          </a:solidFill>
          <a:ln w="12700">
            <a:solidFill>
              <a:srgbClr val="38BDF8"/>
            </a:solidFill>
            <a:prstDash val="solid"/>
          </a:ln>
        </p:spPr>
      </p:sp>
      <p:pic>
        <p:nvPicPr>
          <p:cNvPr id="17" name="Flow 3 icon" descr="Flow 3">    </p:cNvPr>
          <p:cNvPicPr>
            <a:picLocks noChangeAspect="1"/>
          </p:cNvPicPr>
          <p:nvPr/>
        </p:nvPicPr>
        <p:blipFill>
          <a:blip r:embed="rId3"/>
          <a:stretch>
            <a:fillRect/>
          </a:stretch>
        </p:blipFill>
        <p:spPr>
          <a:xfrm>
            <a:off x="3705606" y="1497330"/>
            <a:ext cx="251460" cy="251460"/>
          </a:xfrm>
          <a:prstGeom prst="rect">
            <a:avLst/>
          </a:prstGeom>
        </p:spPr>
      </p:pic>
      <p:sp>
        <p:nvSpPr>
          <p:cNvPr id="18" name="Text 13"/>
          <p:cNvSpPr txBox="1"/>
          <p:nvPr/>
        </p:nvSpPr>
        <p:spPr>
          <a:xfrm>
            <a:off x="3282696" y="2011680"/>
            <a:ext cx="1097280" cy="457200"/>
          </a:xfrm>
          <a:prstGeom prst="rect">
            <a:avLst/>
          </a:prstGeom>
          <a:noFill/>
          <a:ln/>
        </p:spPr>
        <p:txBody>
          <a:bodyPr wrap="square" lIns="0" tIns="0" rIns="0" bIns="0" rtlCol="0" anchor="ctr"/>
          <a:lstStyle/>
          <a:p>
            <a:pPr algn="ctr" indent="0" marL="0">
              <a:buNone/>
            </a:pPr>
            <a:r>
              <a:rPr lang="en-US" sz="1250" b="1" dirty="0">
                <a:solidFill>
                  <a:srgbClr val="F1F5F9"/>
                </a:solidFill>
              </a:rPr>
              <a:t>XGBoost</a:t>
            </a:r>
            <a:endParaRPr lang="en-US" sz="1250" dirty="0"/>
          </a:p>
        </p:txBody>
      </p:sp>
      <p:sp>
        <p:nvSpPr>
          <p:cNvPr id="19" name="Text 14"/>
          <p:cNvSpPr txBox="1"/>
          <p:nvPr/>
        </p:nvSpPr>
        <p:spPr>
          <a:xfrm>
            <a:off x="3310128" y="2514600"/>
            <a:ext cx="1042416" cy="777240"/>
          </a:xfrm>
          <a:prstGeom prst="rect">
            <a:avLst/>
          </a:prstGeom>
          <a:noFill/>
          <a:ln/>
        </p:spPr>
        <p:txBody>
          <a:bodyPr wrap="square" lIns="0" tIns="0" rIns="0" bIns="0" rtlCol="0" anchor="t"/>
          <a:lstStyle/>
          <a:p>
            <a:pPr algn="ctr" indent="0" marL="0">
              <a:buNone/>
            </a:pPr>
            <a:r>
              <a:rPr lang="en-US" sz="1050" dirty="0">
                <a:solidFill>
                  <a:srgbClr val="94A3B8"/>
                </a:solidFill>
              </a:rPr>
              <a:t>Estimates the failure risk</a:t>
            </a:r>
            <a:endParaRPr lang="en-US" sz="1050" dirty="0"/>
          </a:p>
        </p:txBody>
      </p:sp>
      <p:sp>
        <p:nvSpPr>
          <p:cNvPr id="20" name="Arrow 3"/>
          <p:cNvSpPr/>
          <p:nvPr/>
        </p:nvSpPr>
        <p:spPr>
          <a:xfrm>
            <a:off x="4443984" y="2194560"/>
            <a:ext cx="164592" cy="201168"/>
          </a:xfrm>
          <a:prstGeom prst="rightArrow">
            <a:avLst/>
          </a:prstGeom>
          <a:solidFill>
            <a:srgbClr val="38BDF8"/>
          </a:solidFill>
          <a:ln w="12700">
            <a:solidFill>
              <a:srgbClr val="38BDF8"/>
            </a:solidFill>
            <a:prstDash val="solid"/>
          </a:ln>
        </p:spPr>
      </p:sp>
      <p:sp>
        <p:nvSpPr>
          <p:cNvPr id="21" name="Flow card 4"/>
          <p:cNvSpPr/>
          <p:nvPr/>
        </p:nvSpPr>
        <p:spPr>
          <a:xfrm>
            <a:off x="4626864" y="1234440"/>
            <a:ext cx="1188720" cy="2148840"/>
          </a:xfrm>
          <a:prstGeom prst="roundRect">
            <a:avLst>
              <a:gd name="adj" fmla="val 7692"/>
            </a:avLst>
          </a:prstGeom>
          <a:solidFill>
            <a:srgbClr val="131C2E"/>
          </a:solidFill>
          <a:ln w="9525">
            <a:solidFill>
              <a:srgbClr val="26334D"/>
            </a:solidFill>
            <a:prstDash val="solid"/>
          </a:ln>
        </p:spPr>
      </p:sp>
      <p:sp>
        <p:nvSpPr>
          <p:cNvPr id="22" name="Flow 4 circle"/>
          <p:cNvSpPr/>
          <p:nvPr/>
        </p:nvSpPr>
        <p:spPr>
          <a:xfrm>
            <a:off x="4969764" y="1371600"/>
            <a:ext cx="502920" cy="502920"/>
          </a:xfrm>
          <a:prstGeom prst="ellipse">
            <a:avLst/>
          </a:prstGeom>
          <a:solidFill>
            <a:srgbClr val="38BDF8"/>
          </a:solidFill>
          <a:ln w="12700">
            <a:solidFill>
              <a:srgbClr val="38BDF8"/>
            </a:solidFill>
            <a:prstDash val="solid"/>
          </a:ln>
        </p:spPr>
      </p:sp>
      <p:pic>
        <p:nvPicPr>
          <p:cNvPr id="23" name="Flow 4 icon" descr="Flow 4">    </p:cNvPr>
          <p:cNvPicPr>
            <a:picLocks noChangeAspect="1"/>
          </p:cNvPicPr>
          <p:nvPr/>
        </p:nvPicPr>
        <p:blipFill>
          <a:blip r:embed="rId4"/>
          <a:stretch>
            <a:fillRect/>
          </a:stretch>
        </p:blipFill>
        <p:spPr>
          <a:xfrm>
            <a:off x="5095494" y="1497330"/>
            <a:ext cx="251460" cy="251460"/>
          </a:xfrm>
          <a:prstGeom prst="rect">
            <a:avLst/>
          </a:prstGeom>
        </p:spPr>
      </p:pic>
      <p:sp>
        <p:nvSpPr>
          <p:cNvPr id="24" name="Text 18"/>
          <p:cNvSpPr txBox="1"/>
          <p:nvPr/>
        </p:nvSpPr>
        <p:spPr>
          <a:xfrm>
            <a:off x="4672584" y="2011680"/>
            <a:ext cx="1097280" cy="457200"/>
          </a:xfrm>
          <a:prstGeom prst="rect">
            <a:avLst/>
          </a:prstGeom>
          <a:noFill/>
          <a:ln/>
        </p:spPr>
        <p:txBody>
          <a:bodyPr wrap="square" lIns="0" tIns="0" rIns="0" bIns="0" rtlCol="0" anchor="ctr"/>
          <a:lstStyle/>
          <a:p>
            <a:pPr algn="ctr" indent="0" marL="0">
              <a:buNone/>
            </a:pPr>
            <a:r>
              <a:rPr lang="en-US" sz="1250" b="1" dirty="0">
                <a:solidFill>
                  <a:srgbClr val="F1F5F9"/>
                </a:solidFill>
              </a:rPr>
              <a:t>SHAP</a:t>
            </a:r>
            <a:endParaRPr lang="en-US" sz="1250" dirty="0"/>
          </a:p>
        </p:txBody>
      </p:sp>
      <p:sp>
        <p:nvSpPr>
          <p:cNvPr id="25" name="Text 19"/>
          <p:cNvSpPr txBox="1"/>
          <p:nvPr/>
        </p:nvSpPr>
        <p:spPr>
          <a:xfrm>
            <a:off x="4700016" y="2514600"/>
            <a:ext cx="1042416" cy="777240"/>
          </a:xfrm>
          <a:prstGeom prst="rect">
            <a:avLst/>
          </a:prstGeom>
          <a:noFill/>
          <a:ln/>
        </p:spPr>
        <p:txBody>
          <a:bodyPr wrap="square" lIns="0" tIns="0" rIns="0" bIns="0" rtlCol="0" anchor="t"/>
          <a:lstStyle/>
          <a:p>
            <a:pPr algn="ctr" indent="0" marL="0">
              <a:buNone/>
            </a:pPr>
            <a:r>
              <a:rPr lang="en-US" sz="1050" dirty="0">
                <a:solidFill>
                  <a:srgbClr val="94A3B8"/>
                </a:solidFill>
              </a:rPr>
              <a:t>Explains the result</a:t>
            </a:r>
            <a:endParaRPr lang="en-US" sz="1050" dirty="0"/>
          </a:p>
        </p:txBody>
      </p:sp>
      <p:sp>
        <p:nvSpPr>
          <p:cNvPr id="26" name="Arrow 4"/>
          <p:cNvSpPr/>
          <p:nvPr/>
        </p:nvSpPr>
        <p:spPr>
          <a:xfrm>
            <a:off x="5833872" y="2194560"/>
            <a:ext cx="164592" cy="201168"/>
          </a:xfrm>
          <a:prstGeom prst="rightArrow">
            <a:avLst/>
          </a:prstGeom>
          <a:solidFill>
            <a:srgbClr val="38BDF8"/>
          </a:solidFill>
          <a:ln w="12700">
            <a:solidFill>
              <a:srgbClr val="38BDF8"/>
            </a:solidFill>
            <a:prstDash val="solid"/>
          </a:ln>
        </p:spPr>
      </p:sp>
      <p:sp>
        <p:nvSpPr>
          <p:cNvPr id="27" name="Flow card 5"/>
          <p:cNvSpPr/>
          <p:nvPr/>
        </p:nvSpPr>
        <p:spPr>
          <a:xfrm>
            <a:off x="6016752" y="1234440"/>
            <a:ext cx="1188720" cy="2148840"/>
          </a:xfrm>
          <a:prstGeom prst="roundRect">
            <a:avLst>
              <a:gd name="adj" fmla="val 7692"/>
            </a:avLst>
          </a:prstGeom>
          <a:solidFill>
            <a:srgbClr val="131C2E"/>
          </a:solidFill>
          <a:ln w="9525">
            <a:solidFill>
              <a:srgbClr val="26334D"/>
            </a:solidFill>
            <a:prstDash val="solid"/>
          </a:ln>
        </p:spPr>
      </p:sp>
      <p:sp>
        <p:nvSpPr>
          <p:cNvPr id="28" name="Flow 5 circle"/>
          <p:cNvSpPr/>
          <p:nvPr/>
        </p:nvSpPr>
        <p:spPr>
          <a:xfrm>
            <a:off x="6359652" y="1371600"/>
            <a:ext cx="502920" cy="502920"/>
          </a:xfrm>
          <a:prstGeom prst="ellipse">
            <a:avLst/>
          </a:prstGeom>
          <a:solidFill>
            <a:srgbClr val="38BDF8"/>
          </a:solidFill>
          <a:ln w="12700">
            <a:solidFill>
              <a:srgbClr val="38BDF8"/>
            </a:solidFill>
            <a:prstDash val="solid"/>
          </a:ln>
        </p:spPr>
      </p:sp>
      <p:pic>
        <p:nvPicPr>
          <p:cNvPr id="29" name="Flow 5 icon" descr="Flow 5">    </p:cNvPr>
          <p:cNvPicPr>
            <a:picLocks noChangeAspect="1"/>
          </p:cNvPicPr>
          <p:nvPr/>
        </p:nvPicPr>
        <p:blipFill>
          <a:blip r:embed="rId5"/>
          <a:stretch>
            <a:fillRect/>
          </a:stretch>
        </p:blipFill>
        <p:spPr>
          <a:xfrm>
            <a:off x="6485382" y="1497330"/>
            <a:ext cx="251460" cy="251460"/>
          </a:xfrm>
          <a:prstGeom prst="rect">
            <a:avLst/>
          </a:prstGeom>
        </p:spPr>
      </p:pic>
      <p:sp>
        <p:nvSpPr>
          <p:cNvPr id="30" name="Text 23"/>
          <p:cNvSpPr txBox="1"/>
          <p:nvPr/>
        </p:nvSpPr>
        <p:spPr>
          <a:xfrm>
            <a:off x="6062472" y="2011680"/>
            <a:ext cx="1097280" cy="457200"/>
          </a:xfrm>
          <a:prstGeom prst="rect">
            <a:avLst/>
          </a:prstGeom>
          <a:noFill/>
          <a:ln/>
        </p:spPr>
        <p:txBody>
          <a:bodyPr wrap="square" lIns="0" tIns="0" rIns="0" bIns="0" rtlCol="0" anchor="ctr"/>
          <a:lstStyle/>
          <a:p>
            <a:pPr algn="ctr" indent="0" marL="0">
              <a:buNone/>
            </a:pPr>
            <a:r>
              <a:rPr lang="en-US" sz="1250" b="1" dirty="0">
                <a:solidFill>
                  <a:srgbClr val="F1F5F9"/>
                </a:solidFill>
              </a:rPr>
              <a:t>MongoDB</a:t>
            </a:r>
            <a:endParaRPr lang="en-US" sz="1250" dirty="0"/>
          </a:p>
        </p:txBody>
      </p:sp>
      <p:sp>
        <p:nvSpPr>
          <p:cNvPr id="31" name="Text 24"/>
          <p:cNvSpPr txBox="1"/>
          <p:nvPr/>
        </p:nvSpPr>
        <p:spPr>
          <a:xfrm>
            <a:off x="6089904" y="2514600"/>
            <a:ext cx="1042416" cy="777240"/>
          </a:xfrm>
          <a:prstGeom prst="rect">
            <a:avLst/>
          </a:prstGeom>
          <a:noFill/>
          <a:ln/>
        </p:spPr>
        <p:txBody>
          <a:bodyPr wrap="square" lIns="0" tIns="0" rIns="0" bIns="0" rtlCol="0" anchor="t"/>
          <a:lstStyle/>
          <a:p>
            <a:pPr algn="ctr" indent="0" marL="0">
              <a:buNone/>
            </a:pPr>
            <a:r>
              <a:rPr lang="en-US" sz="1050" dirty="0">
                <a:solidFill>
                  <a:srgbClr val="94A3B8"/>
                </a:solidFill>
              </a:rPr>
              <a:t>Stores the records</a:t>
            </a:r>
            <a:endParaRPr lang="en-US" sz="1050" dirty="0"/>
          </a:p>
        </p:txBody>
      </p:sp>
      <p:sp>
        <p:nvSpPr>
          <p:cNvPr id="32" name="Arrow 5"/>
          <p:cNvSpPr/>
          <p:nvPr/>
        </p:nvSpPr>
        <p:spPr>
          <a:xfrm>
            <a:off x="7223760" y="2194560"/>
            <a:ext cx="164592" cy="201168"/>
          </a:xfrm>
          <a:prstGeom prst="rightArrow">
            <a:avLst/>
          </a:prstGeom>
          <a:solidFill>
            <a:srgbClr val="38BDF8"/>
          </a:solidFill>
          <a:ln w="12700">
            <a:solidFill>
              <a:srgbClr val="38BDF8"/>
            </a:solidFill>
            <a:prstDash val="solid"/>
          </a:ln>
        </p:spPr>
      </p:sp>
      <p:sp>
        <p:nvSpPr>
          <p:cNvPr id="33" name="Flow card 6"/>
          <p:cNvSpPr/>
          <p:nvPr/>
        </p:nvSpPr>
        <p:spPr>
          <a:xfrm>
            <a:off x="7406640" y="1234440"/>
            <a:ext cx="1188720" cy="2148840"/>
          </a:xfrm>
          <a:prstGeom prst="roundRect">
            <a:avLst>
              <a:gd name="adj" fmla="val 7692"/>
            </a:avLst>
          </a:prstGeom>
          <a:solidFill>
            <a:srgbClr val="131C2E"/>
          </a:solidFill>
          <a:ln w="9525">
            <a:solidFill>
              <a:srgbClr val="26334D"/>
            </a:solidFill>
            <a:prstDash val="solid"/>
          </a:ln>
        </p:spPr>
      </p:sp>
      <p:sp>
        <p:nvSpPr>
          <p:cNvPr id="34" name="Flow 6 circle"/>
          <p:cNvSpPr/>
          <p:nvPr/>
        </p:nvSpPr>
        <p:spPr>
          <a:xfrm>
            <a:off x="7749540" y="1371600"/>
            <a:ext cx="502920" cy="502920"/>
          </a:xfrm>
          <a:prstGeom prst="ellipse">
            <a:avLst/>
          </a:prstGeom>
          <a:solidFill>
            <a:srgbClr val="38BDF8"/>
          </a:solidFill>
          <a:ln w="12700">
            <a:solidFill>
              <a:srgbClr val="38BDF8"/>
            </a:solidFill>
            <a:prstDash val="solid"/>
          </a:ln>
        </p:spPr>
      </p:sp>
      <p:pic>
        <p:nvPicPr>
          <p:cNvPr id="35" name="Flow 6 icon" descr="Flow 6">    </p:cNvPr>
          <p:cNvPicPr>
            <a:picLocks noChangeAspect="1"/>
          </p:cNvPicPr>
          <p:nvPr/>
        </p:nvPicPr>
        <p:blipFill>
          <a:blip r:embed="rId6"/>
          <a:stretch>
            <a:fillRect/>
          </a:stretch>
        </p:blipFill>
        <p:spPr>
          <a:xfrm>
            <a:off x="7875270" y="1497330"/>
            <a:ext cx="251460" cy="251460"/>
          </a:xfrm>
          <a:prstGeom prst="rect">
            <a:avLst/>
          </a:prstGeom>
        </p:spPr>
      </p:pic>
      <p:sp>
        <p:nvSpPr>
          <p:cNvPr id="36" name="Text 28"/>
          <p:cNvSpPr txBox="1"/>
          <p:nvPr/>
        </p:nvSpPr>
        <p:spPr>
          <a:xfrm>
            <a:off x="7452360" y="2011680"/>
            <a:ext cx="1097280" cy="457200"/>
          </a:xfrm>
          <a:prstGeom prst="rect">
            <a:avLst/>
          </a:prstGeom>
          <a:noFill/>
          <a:ln/>
        </p:spPr>
        <p:txBody>
          <a:bodyPr wrap="square" lIns="0" tIns="0" rIns="0" bIns="0" rtlCol="0" anchor="ctr"/>
          <a:lstStyle/>
          <a:p>
            <a:pPr algn="ctr" indent="0" marL="0">
              <a:buNone/>
            </a:pPr>
            <a:r>
              <a:rPr lang="en-US" sz="1250" b="1" dirty="0">
                <a:solidFill>
                  <a:srgbClr val="F1F5F9"/>
                </a:solidFill>
              </a:rPr>
              <a:t>React UI</a:t>
            </a:r>
            <a:endParaRPr lang="en-US" sz="1250" dirty="0"/>
          </a:p>
        </p:txBody>
      </p:sp>
      <p:sp>
        <p:nvSpPr>
          <p:cNvPr id="37" name="Text 29"/>
          <p:cNvSpPr txBox="1"/>
          <p:nvPr/>
        </p:nvSpPr>
        <p:spPr>
          <a:xfrm>
            <a:off x="7479792" y="2514600"/>
            <a:ext cx="1042416" cy="777240"/>
          </a:xfrm>
          <a:prstGeom prst="rect">
            <a:avLst/>
          </a:prstGeom>
          <a:noFill/>
          <a:ln/>
        </p:spPr>
        <p:txBody>
          <a:bodyPr wrap="square" lIns="0" tIns="0" rIns="0" bIns="0" rtlCol="0" anchor="t"/>
          <a:lstStyle/>
          <a:p>
            <a:pPr algn="ctr" indent="0" marL="0">
              <a:buNone/>
            </a:pPr>
            <a:r>
              <a:rPr lang="en-US" sz="1050" dirty="0">
                <a:solidFill>
                  <a:srgbClr val="94A3B8"/>
                </a:solidFill>
              </a:rPr>
              <a:t>Shows risk, trends and alerts</a:t>
            </a:r>
            <a:endParaRPr lang="en-US" sz="1050" dirty="0"/>
          </a:p>
        </p:txBody>
      </p:sp>
      <p:sp>
        <p:nvSpPr>
          <p:cNvPr id="38" name="Text 30"/>
          <p:cNvSpPr txBox="1"/>
          <p:nvPr/>
        </p:nvSpPr>
        <p:spPr>
          <a:xfrm>
            <a:off x="457200" y="3566160"/>
            <a:ext cx="2743200" cy="256032"/>
          </a:xfrm>
          <a:prstGeom prst="rect">
            <a:avLst/>
          </a:prstGeom>
          <a:noFill/>
          <a:ln/>
        </p:spPr>
        <p:txBody>
          <a:bodyPr wrap="square" lIns="0" tIns="0" rIns="0" bIns="0" rtlCol="0" anchor="ctr"/>
          <a:lstStyle/>
          <a:p>
            <a:pPr indent="0" marL="0">
              <a:buNone/>
            </a:pPr>
            <a:r>
              <a:rPr lang="en-US" sz="1200" b="1" dirty="0">
                <a:solidFill>
                  <a:srgbClr val="94A3B8"/>
                </a:solidFill>
              </a:rPr>
              <a:t>Technology we use</a:t>
            </a:r>
            <a:endParaRPr lang="en-US" sz="1200" dirty="0"/>
          </a:p>
        </p:txBody>
      </p:sp>
      <p:sp>
        <p:nvSpPr>
          <p:cNvPr id="39" name="Tech chip Python"/>
          <p:cNvSpPr/>
          <p:nvPr/>
        </p:nvSpPr>
        <p:spPr>
          <a:xfrm>
            <a:off x="457200" y="3886200"/>
            <a:ext cx="1188720" cy="347472"/>
          </a:xfrm>
          <a:prstGeom prst="roundRect">
            <a:avLst>
              <a:gd name="adj" fmla="val 50000"/>
            </a:avLst>
          </a:prstGeom>
          <a:solidFill>
            <a:srgbClr val="131C2E"/>
          </a:solidFill>
          <a:ln w="12700">
            <a:solidFill>
              <a:srgbClr val="38BDF8"/>
            </a:solidFill>
            <a:prstDash val="solid"/>
          </a:ln>
        </p:spPr>
      </p:sp>
      <p:sp>
        <p:nvSpPr>
          <p:cNvPr id="40" name="Text 32"/>
          <p:cNvSpPr txBox="1"/>
          <p:nvPr/>
        </p:nvSpPr>
        <p:spPr>
          <a:xfrm>
            <a:off x="457200" y="3886200"/>
            <a:ext cx="1188720" cy="347472"/>
          </a:xfrm>
          <a:prstGeom prst="rect">
            <a:avLst/>
          </a:prstGeom>
          <a:noFill/>
          <a:ln/>
        </p:spPr>
        <p:txBody>
          <a:bodyPr wrap="square" lIns="0" tIns="0" rIns="0" bIns="0" rtlCol="0" anchor="ctr"/>
          <a:lstStyle/>
          <a:p>
            <a:pPr algn="ctr" indent="0" marL="0">
              <a:buNone/>
            </a:pPr>
            <a:r>
              <a:rPr lang="en-US" sz="1150" b="1" dirty="0">
                <a:solidFill>
                  <a:srgbClr val="38BDF8"/>
                </a:solidFill>
              </a:rPr>
              <a:t>Python</a:t>
            </a:r>
            <a:endParaRPr lang="en-US" sz="1150" dirty="0"/>
          </a:p>
        </p:txBody>
      </p:sp>
      <p:sp>
        <p:nvSpPr>
          <p:cNvPr id="41" name="Tech chip FastAPI"/>
          <p:cNvSpPr/>
          <p:nvPr/>
        </p:nvSpPr>
        <p:spPr>
          <a:xfrm>
            <a:off x="1847088" y="3886200"/>
            <a:ext cx="1188720" cy="347472"/>
          </a:xfrm>
          <a:prstGeom prst="roundRect">
            <a:avLst>
              <a:gd name="adj" fmla="val 50000"/>
            </a:avLst>
          </a:prstGeom>
          <a:solidFill>
            <a:srgbClr val="131C2E"/>
          </a:solidFill>
          <a:ln w="12700">
            <a:solidFill>
              <a:srgbClr val="38BDF8"/>
            </a:solidFill>
            <a:prstDash val="solid"/>
          </a:ln>
        </p:spPr>
      </p:sp>
      <p:sp>
        <p:nvSpPr>
          <p:cNvPr id="42" name="Text 34"/>
          <p:cNvSpPr txBox="1"/>
          <p:nvPr/>
        </p:nvSpPr>
        <p:spPr>
          <a:xfrm>
            <a:off x="1847088" y="3886200"/>
            <a:ext cx="1188720" cy="347472"/>
          </a:xfrm>
          <a:prstGeom prst="rect">
            <a:avLst/>
          </a:prstGeom>
          <a:noFill/>
          <a:ln/>
        </p:spPr>
        <p:txBody>
          <a:bodyPr wrap="square" lIns="0" tIns="0" rIns="0" bIns="0" rtlCol="0" anchor="ctr"/>
          <a:lstStyle/>
          <a:p>
            <a:pPr algn="ctr" indent="0" marL="0">
              <a:buNone/>
            </a:pPr>
            <a:r>
              <a:rPr lang="en-US" sz="1150" b="1" dirty="0">
                <a:solidFill>
                  <a:srgbClr val="38BDF8"/>
                </a:solidFill>
              </a:rPr>
              <a:t>FastAPI</a:t>
            </a:r>
            <a:endParaRPr lang="en-US" sz="1150" dirty="0"/>
          </a:p>
        </p:txBody>
      </p:sp>
      <p:sp>
        <p:nvSpPr>
          <p:cNvPr id="43" name="Tech chip XGBoost"/>
          <p:cNvSpPr/>
          <p:nvPr/>
        </p:nvSpPr>
        <p:spPr>
          <a:xfrm>
            <a:off x="3236976" y="3886200"/>
            <a:ext cx="1188720" cy="347472"/>
          </a:xfrm>
          <a:prstGeom prst="roundRect">
            <a:avLst>
              <a:gd name="adj" fmla="val 50000"/>
            </a:avLst>
          </a:prstGeom>
          <a:solidFill>
            <a:srgbClr val="131C2E"/>
          </a:solidFill>
          <a:ln w="12700">
            <a:solidFill>
              <a:srgbClr val="38BDF8"/>
            </a:solidFill>
            <a:prstDash val="solid"/>
          </a:ln>
        </p:spPr>
      </p:sp>
      <p:sp>
        <p:nvSpPr>
          <p:cNvPr id="44" name="Text 36"/>
          <p:cNvSpPr txBox="1"/>
          <p:nvPr/>
        </p:nvSpPr>
        <p:spPr>
          <a:xfrm>
            <a:off x="3236976" y="3886200"/>
            <a:ext cx="1188720" cy="347472"/>
          </a:xfrm>
          <a:prstGeom prst="rect">
            <a:avLst/>
          </a:prstGeom>
          <a:noFill/>
          <a:ln/>
        </p:spPr>
        <p:txBody>
          <a:bodyPr wrap="square" lIns="0" tIns="0" rIns="0" bIns="0" rtlCol="0" anchor="ctr"/>
          <a:lstStyle/>
          <a:p>
            <a:pPr algn="ctr" indent="0" marL="0">
              <a:buNone/>
            </a:pPr>
            <a:r>
              <a:rPr lang="en-US" sz="1150" b="1" dirty="0">
                <a:solidFill>
                  <a:srgbClr val="38BDF8"/>
                </a:solidFill>
              </a:rPr>
              <a:t>XGBoost</a:t>
            </a:r>
            <a:endParaRPr lang="en-US" sz="1150" dirty="0"/>
          </a:p>
        </p:txBody>
      </p:sp>
      <p:sp>
        <p:nvSpPr>
          <p:cNvPr id="45" name="Tech chip SHAP"/>
          <p:cNvSpPr/>
          <p:nvPr/>
        </p:nvSpPr>
        <p:spPr>
          <a:xfrm>
            <a:off x="4626864" y="3886200"/>
            <a:ext cx="1188720" cy="347472"/>
          </a:xfrm>
          <a:prstGeom prst="roundRect">
            <a:avLst>
              <a:gd name="adj" fmla="val 50000"/>
            </a:avLst>
          </a:prstGeom>
          <a:solidFill>
            <a:srgbClr val="131C2E"/>
          </a:solidFill>
          <a:ln w="12700">
            <a:solidFill>
              <a:srgbClr val="38BDF8"/>
            </a:solidFill>
            <a:prstDash val="solid"/>
          </a:ln>
        </p:spPr>
      </p:sp>
      <p:sp>
        <p:nvSpPr>
          <p:cNvPr id="46" name="Text 38"/>
          <p:cNvSpPr txBox="1"/>
          <p:nvPr/>
        </p:nvSpPr>
        <p:spPr>
          <a:xfrm>
            <a:off x="4626864" y="3886200"/>
            <a:ext cx="1188720" cy="347472"/>
          </a:xfrm>
          <a:prstGeom prst="rect">
            <a:avLst/>
          </a:prstGeom>
          <a:noFill/>
          <a:ln/>
        </p:spPr>
        <p:txBody>
          <a:bodyPr wrap="square" lIns="0" tIns="0" rIns="0" bIns="0" rtlCol="0" anchor="ctr"/>
          <a:lstStyle/>
          <a:p>
            <a:pPr algn="ctr" indent="0" marL="0">
              <a:buNone/>
            </a:pPr>
            <a:r>
              <a:rPr lang="en-US" sz="1150" b="1" dirty="0">
                <a:solidFill>
                  <a:srgbClr val="38BDF8"/>
                </a:solidFill>
              </a:rPr>
              <a:t>SHAP</a:t>
            </a:r>
            <a:endParaRPr lang="en-US" sz="1150" dirty="0"/>
          </a:p>
        </p:txBody>
      </p:sp>
      <p:sp>
        <p:nvSpPr>
          <p:cNvPr id="47" name="Tech chip MongoDB Atlas"/>
          <p:cNvSpPr/>
          <p:nvPr/>
        </p:nvSpPr>
        <p:spPr>
          <a:xfrm>
            <a:off x="6016752" y="3886200"/>
            <a:ext cx="1188720" cy="347472"/>
          </a:xfrm>
          <a:prstGeom prst="roundRect">
            <a:avLst>
              <a:gd name="adj" fmla="val 50000"/>
            </a:avLst>
          </a:prstGeom>
          <a:solidFill>
            <a:srgbClr val="131C2E"/>
          </a:solidFill>
          <a:ln w="12700">
            <a:solidFill>
              <a:srgbClr val="38BDF8"/>
            </a:solidFill>
            <a:prstDash val="solid"/>
          </a:ln>
        </p:spPr>
      </p:sp>
      <p:sp>
        <p:nvSpPr>
          <p:cNvPr id="48" name="Text 40"/>
          <p:cNvSpPr txBox="1"/>
          <p:nvPr/>
        </p:nvSpPr>
        <p:spPr>
          <a:xfrm>
            <a:off x="6016752" y="3886200"/>
            <a:ext cx="1188720" cy="347472"/>
          </a:xfrm>
          <a:prstGeom prst="rect">
            <a:avLst/>
          </a:prstGeom>
          <a:noFill/>
          <a:ln/>
        </p:spPr>
        <p:txBody>
          <a:bodyPr wrap="square" lIns="0" tIns="0" rIns="0" bIns="0" rtlCol="0" anchor="ctr"/>
          <a:lstStyle/>
          <a:p>
            <a:pPr algn="ctr" indent="0" marL="0">
              <a:buNone/>
            </a:pPr>
            <a:r>
              <a:rPr lang="en-US" sz="1150" b="1" dirty="0">
                <a:solidFill>
                  <a:srgbClr val="38BDF8"/>
                </a:solidFill>
              </a:rPr>
              <a:t>MongoDB Atlas</a:t>
            </a:r>
            <a:endParaRPr lang="en-US" sz="1150" dirty="0"/>
          </a:p>
        </p:txBody>
      </p:sp>
      <p:sp>
        <p:nvSpPr>
          <p:cNvPr id="49" name="Tech chip React"/>
          <p:cNvSpPr/>
          <p:nvPr/>
        </p:nvSpPr>
        <p:spPr>
          <a:xfrm>
            <a:off x="7406640" y="3886200"/>
            <a:ext cx="1188720" cy="347472"/>
          </a:xfrm>
          <a:prstGeom prst="roundRect">
            <a:avLst>
              <a:gd name="adj" fmla="val 50000"/>
            </a:avLst>
          </a:prstGeom>
          <a:solidFill>
            <a:srgbClr val="131C2E"/>
          </a:solidFill>
          <a:ln w="12700">
            <a:solidFill>
              <a:srgbClr val="38BDF8"/>
            </a:solidFill>
            <a:prstDash val="solid"/>
          </a:ln>
        </p:spPr>
      </p:sp>
      <p:sp>
        <p:nvSpPr>
          <p:cNvPr id="50" name="Text 42"/>
          <p:cNvSpPr txBox="1"/>
          <p:nvPr/>
        </p:nvSpPr>
        <p:spPr>
          <a:xfrm>
            <a:off x="7406640" y="3886200"/>
            <a:ext cx="1188720" cy="347472"/>
          </a:xfrm>
          <a:prstGeom prst="rect">
            <a:avLst/>
          </a:prstGeom>
          <a:noFill/>
          <a:ln/>
        </p:spPr>
        <p:txBody>
          <a:bodyPr wrap="square" lIns="0" tIns="0" rIns="0" bIns="0" rtlCol="0" anchor="ctr"/>
          <a:lstStyle/>
          <a:p>
            <a:pPr algn="ctr" indent="0" marL="0">
              <a:buNone/>
            </a:pPr>
            <a:r>
              <a:rPr lang="en-US" sz="1150" b="1" dirty="0">
                <a:solidFill>
                  <a:srgbClr val="38BDF8"/>
                </a:solidFill>
              </a:rPr>
              <a:t>React</a:t>
            </a:r>
            <a:endParaRPr lang="en-US" sz="1150" dirty="0"/>
          </a:p>
        </p:txBody>
      </p:sp>
      <p:sp>
        <p:nvSpPr>
          <p:cNvPr id="51" name="Text 43"/>
          <p:cNvSpPr txBox="1"/>
          <p:nvPr/>
        </p:nvSpPr>
        <p:spPr>
          <a:xfrm>
            <a:off x="457200" y="4389120"/>
            <a:ext cx="8229600" cy="228600"/>
          </a:xfrm>
          <a:prstGeom prst="rect">
            <a:avLst/>
          </a:prstGeom>
          <a:noFill/>
          <a:ln/>
        </p:spPr>
        <p:txBody>
          <a:bodyPr wrap="square" lIns="0" tIns="0" rIns="0" bIns="0" rtlCol="0" anchor="ctr"/>
          <a:lstStyle/>
          <a:p>
            <a:pPr indent="0" marL="0">
              <a:buNone/>
            </a:pPr>
            <a:r>
              <a:rPr lang="en-US" sz="1100" i="1" dirty="0">
                <a:solidFill>
                  <a:srgbClr val="38BDF8"/>
                </a:solidFill>
              </a:rPr>
              <a:t>Data: AI4I 2020 benchmark + synthetic sensor scenarios (not real hardware data)</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rgbClr val="F1F5F9"/>
                </a:solidFill>
              </a:rPr>
              <a:t>Demo: a machine slowly gets worse</a:t>
            </a:r>
            <a:endParaRPr lang="en-US" sz="3200" dirty="0"/>
          </a:p>
        </p:txBody>
      </p:sp>
      <p:sp>
        <p:nvSpPr>
          <p:cNvPr id="3" name="Chart card"/>
          <p:cNvSpPr/>
          <p:nvPr/>
        </p:nvSpPr>
        <p:spPr>
          <a:xfrm>
            <a:off x="457200" y="1188720"/>
            <a:ext cx="5212080" cy="3246120"/>
          </a:xfrm>
          <a:prstGeom prst="roundRect">
            <a:avLst>
              <a:gd name="adj" fmla="val 2817"/>
            </a:avLst>
          </a:prstGeom>
          <a:solidFill>
            <a:srgbClr val="131C2E"/>
          </a:solidFill>
          <a:ln w="9525">
            <a:solidFill>
              <a:srgbClr val="26334D"/>
            </a:solidFill>
            <a:prstDash val="solid"/>
          </a:ln>
        </p:spPr>
      </p:sp>
      <p:graphicFrame>
        <p:nvGraphicFramePr>
          <p:cNvPr id="4" name="Chart 0" descr=""/>
          <p:cNvGraphicFramePr/>
          <p:nvPr/>
        </p:nvGraphicFramePr>
        <p:xfrm>
          <a:off x="548640" y="1280160"/>
          <a:ext cx="502920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480560"/>
            <a:ext cx="5212080" cy="228600"/>
          </a:xfrm>
          <a:prstGeom prst="rect">
            <a:avLst/>
          </a:prstGeom>
          <a:noFill/>
          <a:ln/>
        </p:spPr>
        <p:txBody>
          <a:bodyPr wrap="square" lIns="0" tIns="0" rIns="0" bIns="0" rtlCol="0" anchor="ctr"/>
          <a:lstStyle/>
          <a:p>
            <a:pPr indent="0" marL="0">
              <a:buNone/>
            </a:pPr>
            <a:r>
              <a:rPr lang="en-US" sz="1000" i="1" dirty="0">
                <a:solidFill>
                  <a:srgbClr val="94A3B8"/>
                </a:solidFill>
              </a:rPr>
              <a:t>Illustrative example. Risk is an estimate, not a confirmed fault.</a:t>
            </a:r>
            <a:endParaRPr lang="en-US" sz="1000" dirty="0"/>
          </a:p>
        </p:txBody>
      </p:sp>
      <p:sp>
        <p:nvSpPr>
          <p:cNvPr id="6" name="Stage card Normal"/>
          <p:cNvSpPr/>
          <p:nvPr/>
        </p:nvSpPr>
        <p:spPr>
          <a:xfrm>
            <a:off x="5943600" y="1188720"/>
            <a:ext cx="2743200" cy="960120"/>
          </a:xfrm>
          <a:prstGeom prst="roundRect">
            <a:avLst>
              <a:gd name="adj" fmla="val 9524"/>
            </a:avLst>
          </a:prstGeom>
          <a:solidFill>
            <a:srgbClr val="131C2E"/>
          </a:solidFill>
          <a:ln w="9525">
            <a:solidFill>
              <a:srgbClr val="26334D"/>
            </a:solidFill>
            <a:prstDash val="solid"/>
          </a:ln>
        </p:spPr>
      </p:sp>
      <p:sp>
        <p:nvSpPr>
          <p:cNvPr id="7" name="Dot Normal"/>
          <p:cNvSpPr/>
          <p:nvPr/>
        </p:nvSpPr>
        <p:spPr>
          <a:xfrm>
            <a:off x="6080760" y="1353312"/>
            <a:ext cx="201168" cy="201168"/>
          </a:xfrm>
          <a:prstGeom prst="ellipse">
            <a:avLst/>
          </a:prstGeom>
          <a:solidFill>
            <a:srgbClr val="10B981"/>
          </a:solidFill>
          <a:ln w="12700">
            <a:solidFill>
              <a:srgbClr val="10B981"/>
            </a:solidFill>
            <a:prstDash val="solid"/>
          </a:ln>
        </p:spPr>
      </p:sp>
      <p:sp>
        <p:nvSpPr>
          <p:cNvPr id="8" name="Text 5"/>
          <p:cNvSpPr txBox="1"/>
          <p:nvPr/>
        </p:nvSpPr>
        <p:spPr>
          <a:xfrm>
            <a:off x="6400800" y="1298448"/>
            <a:ext cx="2194560" cy="292608"/>
          </a:xfrm>
          <a:prstGeom prst="rect">
            <a:avLst/>
          </a:prstGeom>
          <a:noFill/>
          <a:ln/>
        </p:spPr>
        <p:txBody>
          <a:bodyPr wrap="square" lIns="0" tIns="0" rIns="0" bIns="0" rtlCol="0" anchor="ctr"/>
          <a:lstStyle/>
          <a:p>
            <a:pPr indent="0" marL="0">
              <a:buNone/>
            </a:pPr>
            <a:r>
              <a:rPr lang="en-US" sz="1600" b="1" dirty="0">
                <a:solidFill>
                  <a:srgbClr val="10B981"/>
                </a:solidFill>
              </a:rPr>
              <a:t>Normal</a:t>
            </a:r>
            <a:endParaRPr lang="en-US" sz="1600" dirty="0"/>
          </a:p>
        </p:txBody>
      </p:sp>
      <p:sp>
        <p:nvSpPr>
          <p:cNvPr id="9" name="Text 6"/>
          <p:cNvSpPr txBox="1"/>
          <p:nvPr/>
        </p:nvSpPr>
        <p:spPr>
          <a:xfrm>
            <a:off x="6080760" y="1645920"/>
            <a:ext cx="2468880" cy="457200"/>
          </a:xfrm>
          <a:prstGeom prst="rect">
            <a:avLst/>
          </a:prstGeom>
          <a:noFill/>
          <a:ln/>
        </p:spPr>
        <p:txBody>
          <a:bodyPr wrap="square" lIns="0" tIns="0" rIns="0" bIns="0" rtlCol="0" anchor="ctr"/>
          <a:lstStyle/>
          <a:p>
            <a:pPr indent="0" marL="0">
              <a:buNone/>
            </a:pPr>
            <a:r>
              <a:rPr lang="en-US" sz="1150" dirty="0">
                <a:solidFill>
                  <a:srgbClr val="F1F5F9"/>
                </a:solidFill>
              </a:rPr>
              <a:t>Risk stays low. The machine is steady.</a:t>
            </a:r>
            <a:endParaRPr lang="en-US" sz="1150" dirty="0"/>
          </a:p>
        </p:txBody>
      </p:sp>
      <p:sp>
        <p:nvSpPr>
          <p:cNvPr id="10" name="Stage card Warning"/>
          <p:cNvSpPr/>
          <p:nvPr/>
        </p:nvSpPr>
        <p:spPr>
          <a:xfrm>
            <a:off x="5943600" y="2286000"/>
            <a:ext cx="2743200" cy="960120"/>
          </a:xfrm>
          <a:prstGeom prst="roundRect">
            <a:avLst>
              <a:gd name="adj" fmla="val 9524"/>
            </a:avLst>
          </a:prstGeom>
          <a:solidFill>
            <a:srgbClr val="131C2E"/>
          </a:solidFill>
          <a:ln w="9525">
            <a:solidFill>
              <a:srgbClr val="26334D"/>
            </a:solidFill>
            <a:prstDash val="solid"/>
          </a:ln>
        </p:spPr>
      </p:sp>
      <p:sp>
        <p:nvSpPr>
          <p:cNvPr id="11" name="Dot Warning"/>
          <p:cNvSpPr/>
          <p:nvPr/>
        </p:nvSpPr>
        <p:spPr>
          <a:xfrm>
            <a:off x="6080760" y="2450592"/>
            <a:ext cx="201168" cy="201168"/>
          </a:xfrm>
          <a:prstGeom prst="ellipse">
            <a:avLst/>
          </a:prstGeom>
          <a:solidFill>
            <a:srgbClr val="F59E0B"/>
          </a:solidFill>
          <a:ln w="12700">
            <a:solidFill>
              <a:srgbClr val="F59E0B"/>
            </a:solidFill>
            <a:prstDash val="solid"/>
          </a:ln>
        </p:spPr>
      </p:sp>
      <p:sp>
        <p:nvSpPr>
          <p:cNvPr id="12" name="Text 9"/>
          <p:cNvSpPr txBox="1"/>
          <p:nvPr/>
        </p:nvSpPr>
        <p:spPr>
          <a:xfrm>
            <a:off x="6400800" y="2395728"/>
            <a:ext cx="2194560" cy="292608"/>
          </a:xfrm>
          <a:prstGeom prst="rect">
            <a:avLst/>
          </a:prstGeom>
          <a:noFill/>
          <a:ln/>
        </p:spPr>
        <p:txBody>
          <a:bodyPr wrap="square" lIns="0" tIns="0" rIns="0" bIns="0" rtlCol="0" anchor="ctr"/>
          <a:lstStyle/>
          <a:p>
            <a:pPr indent="0" marL="0">
              <a:buNone/>
            </a:pPr>
            <a:r>
              <a:rPr lang="en-US" sz="1600" b="1" dirty="0">
                <a:solidFill>
                  <a:srgbClr val="F59E0B"/>
                </a:solidFill>
              </a:rPr>
              <a:t>Warning</a:t>
            </a:r>
            <a:endParaRPr lang="en-US" sz="1600" dirty="0"/>
          </a:p>
        </p:txBody>
      </p:sp>
      <p:sp>
        <p:nvSpPr>
          <p:cNvPr id="13" name="Text 10"/>
          <p:cNvSpPr txBox="1"/>
          <p:nvPr/>
        </p:nvSpPr>
        <p:spPr>
          <a:xfrm>
            <a:off x="6080760" y="2743200"/>
            <a:ext cx="2468880" cy="457200"/>
          </a:xfrm>
          <a:prstGeom prst="rect">
            <a:avLst/>
          </a:prstGeom>
          <a:noFill/>
          <a:ln/>
        </p:spPr>
        <p:txBody>
          <a:bodyPr wrap="square" lIns="0" tIns="0" rIns="0" bIns="0" rtlCol="0" anchor="ctr"/>
          <a:lstStyle/>
          <a:p>
            <a:pPr indent="0" marL="0">
              <a:buNone/>
            </a:pPr>
            <a:r>
              <a:rPr lang="en-US" sz="1150" dirty="0">
                <a:solidFill>
                  <a:srgbClr val="F1F5F9"/>
                </a:solidFill>
              </a:rPr>
              <a:t>Sensor values slowly change and the risk goes up.</a:t>
            </a:r>
            <a:endParaRPr lang="en-US" sz="1150" dirty="0"/>
          </a:p>
        </p:txBody>
      </p:sp>
      <p:sp>
        <p:nvSpPr>
          <p:cNvPr id="14" name="Stage card Critical"/>
          <p:cNvSpPr/>
          <p:nvPr/>
        </p:nvSpPr>
        <p:spPr>
          <a:xfrm>
            <a:off x="5943600" y="3383280"/>
            <a:ext cx="2743200" cy="960120"/>
          </a:xfrm>
          <a:prstGeom prst="roundRect">
            <a:avLst>
              <a:gd name="adj" fmla="val 9524"/>
            </a:avLst>
          </a:prstGeom>
          <a:solidFill>
            <a:srgbClr val="131C2E"/>
          </a:solidFill>
          <a:ln w="9525">
            <a:solidFill>
              <a:srgbClr val="26334D"/>
            </a:solidFill>
            <a:prstDash val="solid"/>
          </a:ln>
        </p:spPr>
      </p:sp>
      <p:sp>
        <p:nvSpPr>
          <p:cNvPr id="15" name="Dot Critical"/>
          <p:cNvSpPr/>
          <p:nvPr/>
        </p:nvSpPr>
        <p:spPr>
          <a:xfrm>
            <a:off x="6080760" y="3547872"/>
            <a:ext cx="201168" cy="201168"/>
          </a:xfrm>
          <a:prstGeom prst="ellipse">
            <a:avLst/>
          </a:prstGeom>
          <a:solidFill>
            <a:srgbClr val="EF4444"/>
          </a:solidFill>
          <a:ln w="12700">
            <a:solidFill>
              <a:srgbClr val="EF4444"/>
            </a:solidFill>
            <a:prstDash val="solid"/>
          </a:ln>
        </p:spPr>
      </p:sp>
      <p:sp>
        <p:nvSpPr>
          <p:cNvPr id="16" name="Text 13"/>
          <p:cNvSpPr txBox="1"/>
          <p:nvPr/>
        </p:nvSpPr>
        <p:spPr>
          <a:xfrm>
            <a:off x="6400800" y="3493008"/>
            <a:ext cx="2194560" cy="292608"/>
          </a:xfrm>
          <a:prstGeom prst="rect">
            <a:avLst/>
          </a:prstGeom>
          <a:noFill/>
          <a:ln/>
        </p:spPr>
        <p:txBody>
          <a:bodyPr wrap="square" lIns="0" tIns="0" rIns="0" bIns="0" rtlCol="0" anchor="ctr"/>
          <a:lstStyle/>
          <a:p>
            <a:pPr indent="0" marL="0">
              <a:buNone/>
            </a:pPr>
            <a:r>
              <a:rPr lang="en-US" sz="1600" b="1" dirty="0">
                <a:solidFill>
                  <a:srgbClr val="EF4444"/>
                </a:solidFill>
              </a:rPr>
              <a:t>Critical</a:t>
            </a:r>
            <a:endParaRPr lang="en-US" sz="1600" dirty="0"/>
          </a:p>
        </p:txBody>
      </p:sp>
      <p:sp>
        <p:nvSpPr>
          <p:cNvPr id="17" name="Text 14"/>
          <p:cNvSpPr txBox="1"/>
          <p:nvPr/>
        </p:nvSpPr>
        <p:spPr>
          <a:xfrm>
            <a:off x="6080760" y="3840480"/>
            <a:ext cx="2468880" cy="457200"/>
          </a:xfrm>
          <a:prstGeom prst="rect">
            <a:avLst/>
          </a:prstGeom>
          <a:noFill/>
          <a:ln/>
        </p:spPr>
        <p:txBody>
          <a:bodyPr wrap="square" lIns="0" tIns="0" rIns="0" bIns="0" rtlCol="0" anchor="ctr"/>
          <a:lstStyle/>
          <a:p>
            <a:pPr indent="0" marL="0">
              <a:buNone/>
            </a:pPr>
            <a:r>
              <a:rPr lang="en-US" sz="1150" dirty="0">
                <a:solidFill>
                  <a:srgbClr val="F1F5F9"/>
                </a:solidFill>
              </a:rPr>
              <a:t>Risk is high and an alert is raised.</a:t>
            </a:r>
            <a:endParaRPr lang="en-US" sz="11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rgbClr val="F1F5F9"/>
                </a:solidFill>
              </a:rPr>
              <a:t>What we built, and its limits</a:t>
            </a:r>
            <a:endParaRPr lang="en-US" sz="3200" dirty="0"/>
          </a:p>
        </p:txBody>
      </p:sp>
      <p:sp>
        <p:nvSpPr>
          <p:cNvPr id="3" name="Column card Implemented"/>
          <p:cNvSpPr/>
          <p:nvPr/>
        </p:nvSpPr>
        <p:spPr>
          <a:xfrm>
            <a:off x="457200" y="1188720"/>
            <a:ext cx="4023360" cy="3291840"/>
          </a:xfrm>
          <a:prstGeom prst="roundRect">
            <a:avLst>
              <a:gd name="adj" fmla="val 2778"/>
            </a:avLst>
          </a:prstGeom>
          <a:solidFill>
            <a:srgbClr val="131C2E"/>
          </a:solidFill>
          <a:ln w="9525">
            <a:solidFill>
              <a:srgbClr val="26334D"/>
            </a:solidFill>
            <a:prstDash val="solid"/>
          </a:ln>
        </p:spPr>
      </p:sp>
      <p:sp>
        <p:nvSpPr>
          <p:cNvPr id="4" name="Implemented circle"/>
          <p:cNvSpPr/>
          <p:nvPr/>
        </p:nvSpPr>
        <p:spPr>
          <a:xfrm>
            <a:off x="640080" y="1325880"/>
            <a:ext cx="502920" cy="502920"/>
          </a:xfrm>
          <a:prstGeom prst="ellipse">
            <a:avLst/>
          </a:prstGeom>
          <a:solidFill>
            <a:srgbClr val="10B981"/>
          </a:solidFill>
          <a:ln w="12700">
            <a:solidFill>
              <a:srgbClr val="10B981"/>
            </a:solidFill>
            <a:prstDash val="solid"/>
          </a:ln>
        </p:spPr>
      </p:sp>
      <p:pic>
        <p:nvPicPr>
          <p:cNvPr id="5" name="Implemented icon" descr="Implemented">    </p:cNvPr>
          <p:cNvPicPr>
            <a:picLocks noChangeAspect="1"/>
          </p:cNvPicPr>
          <p:nvPr/>
        </p:nvPicPr>
        <p:blipFill>
          <a:blip r:embed="rId1"/>
          <a:stretch>
            <a:fillRect/>
          </a:stretch>
        </p:blipFill>
        <p:spPr>
          <a:xfrm>
            <a:off x="765810" y="1451610"/>
            <a:ext cx="251460" cy="251460"/>
          </a:xfrm>
          <a:prstGeom prst="rect">
            <a:avLst/>
          </a:prstGeom>
        </p:spPr>
      </p:pic>
      <p:sp>
        <p:nvSpPr>
          <p:cNvPr id="6" name="Text 3"/>
          <p:cNvSpPr txBox="1"/>
          <p:nvPr/>
        </p:nvSpPr>
        <p:spPr>
          <a:xfrm>
            <a:off x="1280160" y="1325880"/>
            <a:ext cx="3017520" cy="502920"/>
          </a:xfrm>
          <a:prstGeom prst="rect">
            <a:avLst/>
          </a:prstGeom>
          <a:noFill/>
          <a:ln/>
        </p:spPr>
        <p:txBody>
          <a:bodyPr wrap="square" lIns="0" tIns="0" rIns="0" bIns="0" rtlCol="0" anchor="ctr"/>
          <a:lstStyle/>
          <a:p>
            <a:pPr indent="0" marL="0">
              <a:buNone/>
            </a:pPr>
            <a:r>
              <a:rPr lang="en-US" sz="2000" b="1" dirty="0">
                <a:solidFill>
                  <a:srgbClr val="10B981"/>
                </a:solidFill>
              </a:rPr>
              <a:t>Implemented</a:t>
            </a:r>
            <a:endParaRPr lang="en-US" sz="2000" dirty="0"/>
          </a:p>
        </p:txBody>
      </p:sp>
      <p:sp>
        <p:nvSpPr>
          <p:cNvPr id="7" name="Text 4"/>
          <p:cNvSpPr txBox="1"/>
          <p:nvPr/>
        </p:nvSpPr>
        <p:spPr>
          <a:xfrm>
            <a:off x="685800" y="2011680"/>
            <a:ext cx="3611880" cy="22402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1F5F9"/>
                </a:solidFill>
              </a:rPr>
              <a:t>XGBoost-based failure-risk prediction</a:t>
            </a:r>
            <a:endParaRPr lang="en-US" sz="1400" dirty="0"/>
          </a:p>
          <a:p>
            <a:pPr marL="342900" indent="-342900">
              <a:spcAft>
                <a:spcPts val="900"/>
              </a:spcAft>
              <a:buSzPct val="100000"/>
              <a:buChar char="•"/>
            </a:pPr>
            <a:r>
              <a:rPr lang="en-US" sz="1400" dirty="0">
                <a:solidFill>
                  <a:srgbClr val="F1F5F9"/>
                </a:solidFill>
              </a:rPr>
              <a:t>SHAP-based feature explanations</a:t>
            </a:r>
            <a:endParaRPr lang="en-US" sz="1400" dirty="0"/>
          </a:p>
          <a:p>
            <a:pPr marL="342900" indent="-342900">
              <a:spcAft>
                <a:spcPts val="900"/>
              </a:spcAft>
              <a:buSzPct val="100000"/>
              <a:buChar char="•"/>
            </a:pPr>
            <a:r>
              <a:rPr lang="en-US" sz="1400" dirty="0">
                <a:solidFill>
                  <a:srgbClr val="F1F5F9"/>
                </a:solidFill>
              </a:rPr>
              <a:t>FastAPI backend and MongoDB data layer</a:t>
            </a:r>
            <a:endParaRPr lang="en-US" sz="1400" dirty="0"/>
          </a:p>
          <a:p>
            <a:pPr marL="342900" indent="-342900">
              <a:spcAft>
                <a:spcPts val="900"/>
              </a:spcAft>
              <a:buSzPct val="100000"/>
              <a:buChar char="•"/>
            </a:pPr>
            <a:r>
              <a:rPr lang="en-US" sz="1400" dirty="0">
                <a:solidFill>
                  <a:srgbClr val="F1F5F9"/>
                </a:solidFill>
              </a:rPr>
              <a:t>React dashboard: sensor charts, equipment views, prediction history, maintenance records</a:t>
            </a:r>
            <a:endParaRPr lang="en-US" sz="1400" dirty="0"/>
          </a:p>
        </p:txBody>
      </p:sp>
      <p:sp>
        <p:nvSpPr>
          <p:cNvPr id="8" name="Column card Honest limits"/>
          <p:cNvSpPr/>
          <p:nvPr/>
        </p:nvSpPr>
        <p:spPr>
          <a:xfrm>
            <a:off x="4663440" y="1188720"/>
            <a:ext cx="4023360" cy="3291840"/>
          </a:xfrm>
          <a:prstGeom prst="roundRect">
            <a:avLst>
              <a:gd name="adj" fmla="val 2778"/>
            </a:avLst>
          </a:prstGeom>
          <a:solidFill>
            <a:srgbClr val="131C2E"/>
          </a:solidFill>
          <a:ln w="9525">
            <a:solidFill>
              <a:srgbClr val="26334D"/>
            </a:solidFill>
            <a:prstDash val="solid"/>
          </a:ln>
        </p:spPr>
      </p:sp>
      <p:sp>
        <p:nvSpPr>
          <p:cNvPr id="9" name="Honest limits circle"/>
          <p:cNvSpPr/>
          <p:nvPr/>
        </p:nvSpPr>
        <p:spPr>
          <a:xfrm>
            <a:off x="4846320" y="1325880"/>
            <a:ext cx="502920" cy="502920"/>
          </a:xfrm>
          <a:prstGeom prst="ellipse">
            <a:avLst/>
          </a:prstGeom>
          <a:solidFill>
            <a:srgbClr val="F59E0B"/>
          </a:solidFill>
          <a:ln w="12700">
            <a:solidFill>
              <a:srgbClr val="F59E0B"/>
            </a:solidFill>
            <a:prstDash val="solid"/>
          </a:ln>
        </p:spPr>
      </p:sp>
      <p:pic>
        <p:nvPicPr>
          <p:cNvPr id="10" name="Honest limits icon" descr="Honest limits">    </p:cNvPr>
          <p:cNvPicPr>
            <a:picLocks noChangeAspect="1"/>
          </p:cNvPicPr>
          <p:nvPr/>
        </p:nvPicPr>
        <p:blipFill>
          <a:blip r:embed="rId2"/>
          <a:stretch>
            <a:fillRect/>
          </a:stretch>
        </p:blipFill>
        <p:spPr>
          <a:xfrm>
            <a:off x="4972050" y="1451610"/>
            <a:ext cx="251460" cy="251460"/>
          </a:xfrm>
          <a:prstGeom prst="rect">
            <a:avLst/>
          </a:prstGeom>
        </p:spPr>
      </p:pic>
      <p:sp>
        <p:nvSpPr>
          <p:cNvPr id="11" name="Text 7"/>
          <p:cNvSpPr txBox="1"/>
          <p:nvPr/>
        </p:nvSpPr>
        <p:spPr>
          <a:xfrm>
            <a:off x="5486400" y="1325880"/>
            <a:ext cx="3017520" cy="502920"/>
          </a:xfrm>
          <a:prstGeom prst="rect">
            <a:avLst/>
          </a:prstGeom>
          <a:noFill/>
          <a:ln/>
        </p:spPr>
        <p:txBody>
          <a:bodyPr wrap="square" lIns="0" tIns="0" rIns="0" bIns="0" rtlCol="0" anchor="ctr"/>
          <a:lstStyle/>
          <a:p>
            <a:pPr indent="0" marL="0">
              <a:buNone/>
            </a:pPr>
            <a:r>
              <a:rPr lang="en-US" sz="2000" b="1" dirty="0">
                <a:solidFill>
                  <a:srgbClr val="F59E0B"/>
                </a:solidFill>
              </a:rPr>
              <a:t>Honest limits</a:t>
            </a:r>
            <a:endParaRPr lang="en-US" sz="2000" dirty="0"/>
          </a:p>
        </p:txBody>
      </p:sp>
      <p:sp>
        <p:nvSpPr>
          <p:cNvPr id="12" name="Text 8"/>
          <p:cNvSpPr txBox="1"/>
          <p:nvPr/>
        </p:nvSpPr>
        <p:spPr>
          <a:xfrm>
            <a:off x="4892040" y="2011680"/>
            <a:ext cx="3611880" cy="22402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1F5F9"/>
                </a:solidFill>
              </a:rPr>
              <a:t>Simulated readings are not real hardware data</a:t>
            </a:r>
            <a:endParaRPr lang="en-US" sz="1400" dirty="0"/>
          </a:p>
          <a:p>
            <a:pPr marL="342900" indent="-342900">
              <a:spcAft>
                <a:spcPts val="900"/>
              </a:spcAft>
              <a:buSzPct val="100000"/>
              <a:buChar char="•"/>
            </a:pPr>
            <a:r>
              <a:rPr lang="en-US" sz="1400" dirty="0">
                <a:solidFill>
                  <a:srgbClr val="F1F5F9"/>
                </a:solidFill>
              </a:rPr>
              <a:t>Benchmark results do not guarantee accuracy on every real machine</a:t>
            </a:r>
            <a:endParaRPr lang="en-US" sz="1400" dirty="0"/>
          </a:p>
          <a:p>
            <a:pPr marL="342900" indent="-342900">
              <a:spcAft>
                <a:spcPts val="900"/>
              </a:spcAft>
              <a:buSzPct val="100000"/>
              <a:buChar char="•"/>
            </a:pPr>
            <a:r>
              <a:rPr lang="en-US" sz="1400" dirty="0">
                <a:solidFill>
                  <a:srgbClr val="F1F5F9"/>
                </a:solidFill>
              </a:rPr>
              <a:t>Real sensors need compatible hardware and validation</a:t>
            </a:r>
            <a:endParaRPr lang="en-US" sz="1400" dirty="0"/>
          </a:p>
          <a:p>
            <a:pPr marL="342900" indent="-342900">
              <a:spcAft>
                <a:spcPts val="900"/>
              </a:spcAft>
              <a:buSzPct val="100000"/>
              <a:buChar char="•"/>
            </a:pPr>
            <a:r>
              <a:rPr lang="en-US" sz="1400" dirty="0">
                <a:solidFill>
                  <a:srgbClr val="F1F5F9"/>
                </a:solidFill>
              </a:rPr>
              <a:t>A prediction supports maintenance decisions. A technician confirms the fault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rgbClr val="F1F5F9"/>
                </a:solidFill>
              </a:rPr>
              <a:t>Next: Review 3 plan</a:t>
            </a:r>
            <a:endParaRPr lang="en-US" sz="3200" dirty="0"/>
          </a:p>
        </p:txBody>
      </p:sp>
      <p:sp>
        <p:nvSpPr>
          <p:cNvPr id="3" name="Next card 1"/>
          <p:cNvSpPr/>
          <p:nvPr/>
        </p:nvSpPr>
        <p:spPr>
          <a:xfrm>
            <a:off x="457200" y="1234440"/>
            <a:ext cx="2624328" cy="1371600"/>
          </a:xfrm>
          <a:prstGeom prst="roundRect">
            <a:avLst>
              <a:gd name="adj" fmla="val 6667"/>
            </a:avLst>
          </a:prstGeom>
          <a:solidFill>
            <a:srgbClr val="131C2E"/>
          </a:solidFill>
          <a:ln w="9525">
            <a:solidFill>
              <a:srgbClr val="26334D"/>
            </a:solidFill>
            <a:prstDash val="solid"/>
          </a:ln>
        </p:spPr>
      </p:sp>
      <p:sp>
        <p:nvSpPr>
          <p:cNvPr id="4" name="Number 1"/>
          <p:cNvSpPr/>
          <p:nvPr/>
        </p:nvSpPr>
        <p:spPr>
          <a:xfrm>
            <a:off x="621792" y="1399032"/>
            <a:ext cx="420624" cy="420624"/>
          </a:xfrm>
          <a:prstGeom prst="ellipse">
            <a:avLst/>
          </a:prstGeom>
          <a:solidFill>
            <a:srgbClr val="38BDF8"/>
          </a:solidFill>
          <a:ln w="12700">
            <a:solidFill>
              <a:srgbClr val="38BDF8"/>
            </a:solidFill>
            <a:prstDash val="solid"/>
          </a:ln>
        </p:spPr>
      </p:sp>
      <p:sp>
        <p:nvSpPr>
          <p:cNvPr id="5" name="Text 3"/>
          <p:cNvSpPr txBox="1"/>
          <p:nvPr/>
        </p:nvSpPr>
        <p:spPr>
          <a:xfrm>
            <a:off x="621792" y="1399032"/>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rPr>
              <a:t>1</a:t>
            </a:r>
            <a:endParaRPr lang="en-US" sz="1600" dirty="0"/>
          </a:p>
        </p:txBody>
      </p:sp>
      <p:sp>
        <p:nvSpPr>
          <p:cNvPr id="6" name="Text 4"/>
          <p:cNvSpPr txBox="1"/>
          <p:nvPr/>
        </p:nvSpPr>
        <p:spPr>
          <a:xfrm>
            <a:off x="1143000" y="1399032"/>
            <a:ext cx="1828800" cy="420624"/>
          </a:xfrm>
          <a:prstGeom prst="rect">
            <a:avLst/>
          </a:prstGeom>
          <a:noFill/>
          <a:ln/>
        </p:spPr>
        <p:txBody>
          <a:bodyPr wrap="square" lIns="0" tIns="0" rIns="0" bIns="0" rtlCol="0" anchor="ctr"/>
          <a:lstStyle/>
          <a:p>
            <a:pPr indent="0" marL="0">
              <a:buNone/>
            </a:pPr>
            <a:r>
              <a:rPr lang="en-US" sz="1400" b="1" dirty="0">
                <a:solidFill>
                  <a:srgbClr val="F1F5F9"/>
                </a:solidFill>
              </a:rPr>
              <a:t>What-if test</a:t>
            </a:r>
            <a:endParaRPr lang="en-US" sz="1400" dirty="0"/>
          </a:p>
        </p:txBody>
      </p:sp>
      <p:sp>
        <p:nvSpPr>
          <p:cNvPr id="7" name="Text 5"/>
          <p:cNvSpPr txBox="1"/>
          <p:nvPr/>
        </p:nvSpPr>
        <p:spPr>
          <a:xfrm>
            <a:off x="621792" y="1965960"/>
            <a:ext cx="2331720" cy="548640"/>
          </a:xfrm>
          <a:prstGeom prst="rect">
            <a:avLst/>
          </a:prstGeom>
          <a:noFill/>
          <a:ln/>
        </p:spPr>
        <p:txBody>
          <a:bodyPr wrap="square" lIns="0" tIns="0" rIns="0" bIns="0" rtlCol="0" anchor="ctr"/>
          <a:lstStyle/>
          <a:p>
            <a:pPr indent="0" marL="0">
              <a:buNone/>
            </a:pPr>
            <a:r>
              <a:rPr lang="en-US" sz="1200" dirty="0">
                <a:solidFill>
                  <a:srgbClr val="94A3B8"/>
                </a:solidFill>
              </a:rPr>
              <a:t>What happens if workload goes up?</a:t>
            </a:r>
            <a:endParaRPr lang="en-US" sz="1200" dirty="0"/>
          </a:p>
        </p:txBody>
      </p:sp>
      <p:sp>
        <p:nvSpPr>
          <p:cNvPr id="8" name="Next card 2"/>
          <p:cNvSpPr/>
          <p:nvPr/>
        </p:nvSpPr>
        <p:spPr>
          <a:xfrm>
            <a:off x="3264408" y="1234440"/>
            <a:ext cx="2624328" cy="1371600"/>
          </a:xfrm>
          <a:prstGeom prst="roundRect">
            <a:avLst>
              <a:gd name="adj" fmla="val 6667"/>
            </a:avLst>
          </a:prstGeom>
          <a:solidFill>
            <a:srgbClr val="131C2E"/>
          </a:solidFill>
          <a:ln w="9525">
            <a:solidFill>
              <a:srgbClr val="26334D"/>
            </a:solidFill>
            <a:prstDash val="solid"/>
          </a:ln>
        </p:spPr>
      </p:sp>
      <p:sp>
        <p:nvSpPr>
          <p:cNvPr id="9" name="Number 2"/>
          <p:cNvSpPr/>
          <p:nvPr/>
        </p:nvSpPr>
        <p:spPr>
          <a:xfrm>
            <a:off x="3429000" y="1399032"/>
            <a:ext cx="420624" cy="420624"/>
          </a:xfrm>
          <a:prstGeom prst="ellipse">
            <a:avLst/>
          </a:prstGeom>
          <a:solidFill>
            <a:srgbClr val="38BDF8"/>
          </a:solidFill>
          <a:ln w="12700">
            <a:solidFill>
              <a:srgbClr val="38BDF8"/>
            </a:solidFill>
            <a:prstDash val="solid"/>
          </a:ln>
        </p:spPr>
      </p:sp>
      <p:sp>
        <p:nvSpPr>
          <p:cNvPr id="10" name="Text 8"/>
          <p:cNvSpPr txBox="1"/>
          <p:nvPr/>
        </p:nvSpPr>
        <p:spPr>
          <a:xfrm>
            <a:off x="3429000" y="1399032"/>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rPr>
              <a:t>2</a:t>
            </a:r>
            <a:endParaRPr lang="en-US" sz="1600" dirty="0"/>
          </a:p>
        </p:txBody>
      </p:sp>
      <p:sp>
        <p:nvSpPr>
          <p:cNvPr id="11" name="Text 9"/>
          <p:cNvSpPr txBox="1"/>
          <p:nvPr/>
        </p:nvSpPr>
        <p:spPr>
          <a:xfrm>
            <a:off x="3950208" y="1399032"/>
            <a:ext cx="1828800" cy="420624"/>
          </a:xfrm>
          <a:prstGeom prst="rect">
            <a:avLst/>
          </a:prstGeom>
          <a:noFill/>
          <a:ln/>
        </p:spPr>
        <p:txBody>
          <a:bodyPr wrap="square" lIns="0" tIns="0" rIns="0" bIns="0" rtlCol="0" anchor="ctr"/>
          <a:lstStyle/>
          <a:p>
            <a:pPr indent="0" marL="0">
              <a:buNone/>
            </a:pPr>
            <a:r>
              <a:rPr lang="en-US" sz="1400" b="1" dirty="0">
                <a:solidFill>
                  <a:srgbClr val="F1F5F9"/>
                </a:solidFill>
              </a:rPr>
              <a:t>Maintenance simulation</a:t>
            </a:r>
            <a:endParaRPr lang="en-US" sz="1400" dirty="0"/>
          </a:p>
        </p:txBody>
      </p:sp>
      <p:sp>
        <p:nvSpPr>
          <p:cNvPr id="12" name="Text 10"/>
          <p:cNvSpPr txBox="1"/>
          <p:nvPr/>
        </p:nvSpPr>
        <p:spPr>
          <a:xfrm>
            <a:off x="3429000" y="1965960"/>
            <a:ext cx="2331720" cy="548640"/>
          </a:xfrm>
          <a:prstGeom prst="rect">
            <a:avLst/>
          </a:prstGeom>
          <a:noFill/>
          <a:ln/>
        </p:spPr>
        <p:txBody>
          <a:bodyPr wrap="square" lIns="0" tIns="0" rIns="0" bIns="0" rtlCol="0" anchor="ctr"/>
          <a:lstStyle/>
          <a:p>
            <a:pPr indent="0" marL="0">
              <a:buNone/>
            </a:pPr>
            <a:r>
              <a:rPr lang="en-US" sz="1200" dirty="0">
                <a:solidFill>
                  <a:srgbClr val="94A3B8"/>
                </a:solidFill>
              </a:rPr>
              <a:t>Do a virtual repair and see health recover</a:t>
            </a:r>
            <a:endParaRPr lang="en-US" sz="1200" dirty="0"/>
          </a:p>
        </p:txBody>
      </p:sp>
      <p:sp>
        <p:nvSpPr>
          <p:cNvPr id="13" name="Next card 3"/>
          <p:cNvSpPr/>
          <p:nvPr/>
        </p:nvSpPr>
        <p:spPr>
          <a:xfrm>
            <a:off x="6071616" y="1234440"/>
            <a:ext cx="2624328" cy="1371600"/>
          </a:xfrm>
          <a:prstGeom prst="roundRect">
            <a:avLst>
              <a:gd name="adj" fmla="val 6667"/>
            </a:avLst>
          </a:prstGeom>
          <a:solidFill>
            <a:srgbClr val="131C2E"/>
          </a:solidFill>
          <a:ln w="9525">
            <a:solidFill>
              <a:srgbClr val="26334D"/>
            </a:solidFill>
            <a:prstDash val="solid"/>
          </a:ln>
        </p:spPr>
      </p:sp>
      <p:sp>
        <p:nvSpPr>
          <p:cNvPr id="14" name="Number 3"/>
          <p:cNvSpPr/>
          <p:nvPr/>
        </p:nvSpPr>
        <p:spPr>
          <a:xfrm>
            <a:off x="6236208" y="1399032"/>
            <a:ext cx="420624" cy="420624"/>
          </a:xfrm>
          <a:prstGeom prst="ellipse">
            <a:avLst/>
          </a:prstGeom>
          <a:solidFill>
            <a:srgbClr val="38BDF8"/>
          </a:solidFill>
          <a:ln w="12700">
            <a:solidFill>
              <a:srgbClr val="38BDF8"/>
            </a:solidFill>
            <a:prstDash val="solid"/>
          </a:ln>
        </p:spPr>
      </p:sp>
      <p:sp>
        <p:nvSpPr>
          <p:cNvPr id="15" name="Text 13"/>
          <p:cNvSpPr txBox="1"/>
          <p:nvPr/>
        </p:nvSpPr>
        <p:spPr>
          <a:xfrm>
            <a:off x="6236208" y="1399032"/>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rPr>
              <a:t>3</a:t>
            </a:r>
            <a:endParaRPr lang="en-US" sz="1600" dirty="0"/>
          </a:p>
        </p:txBody>
      </p:sp>
      <p:sp>
        <p:nvSpPr>
          <p:cNvPr id="16" name="Text 14"/>
          <p:cNvSpPr txBox="1"/>
          <p:nvPr/>
        </p:nvSpPr>
        <p:spPr>
          <a:xfrm>
            <a:off x="6757416" y="1399032"/>
            <a:ext cx="1828800" cy="420624"/>
          </a:xfrm>
          <a:prstGeom prst="rect">
            <a:avLst/>
          </a:prstGeom>
          <a:noFill/>
          <a:ln/>
        </p:spPr>
        <p:txBody>
          <a:bodyPr wrap="square" lIns="0" tIns="0" rIns="0" bIns="0" rtlCol="0" anchor="ctr"/>
          <a:lstStyle/>
          <a:p>
            <a:pPr indent="0" marL="0">
              <a:buNone/>
            </a:pPr>
            <a:r>
              <a:rPr lang="en-US" sz="1400" b="1" dirty="0">
                <a:solidFill>
                  <a:srgbClr val="F1F5F9"/>
                </a:solidFill>
              </a:rPr>
              <a:t>Last Good Hour</a:t>
            </a:r>
            <a:endParaRPr lang="en-US" sz="1400" dirty="0"/>
          </a:p>
        </p:txBody>
      </p:sp>
      <p:sp>
        <p:nvSpPr>
          <p:cNvPr id="17" name="Text 15"/>
          <p:cNvSpPr txBox="1"/>
          <p:nvPr/>
        </p:nvSpPr>
        <p:spPr>
          <a:xfrm>
            <a:off x="6236208" y="1965960"/>
            <a:ext cx="2331720" cy="548640"/>
          </a:xfrm>
          <a:prstGeom prst="rect">
            <a:avLst/>
          </a:prstGeom>
          <a:noFill/>
          <a:ln/>
        </p:spPr>
        <p:txBody>
          <a:bodyPr wrap="square" lIns="0" tIns="0" rIns="0" bIns="0" rtlCol="0" anchor="ctr"/>
          <a:lstStyle/>
          <a:p>
            <a:pPr indent="0" marL="0">
              <a:buNone/>
            </a:pPr>
            <a:r>
              <a:rPr lang="en-US" sz="1200" dirty="0">
                <a:solidFill>
                  <a:srgbClr val="94A3B8"/>
                </a:solidFill>
              </a:rPr>
              <a:t>Estimate how many safe hours are left</a:t>
            </a:r>
            <a:endParaRPr lang="en-US" sz="1200" dirty="0"/>
          </a:p>
        </p:txBody>
      </p:sp>
      <p:sp>
        <p:nvSpPr>
          <p:cNvPr id="18" name="Next card 4"/>
          <p:cNvSpPr/>
          <p:nvPr/>
        </p:nvSpPr>
        <p:spPr>
          <a:xfrm>
            <a:off x="457200" y="2788920"/>
            <a:ext cx="2624328" cy="1371600"/>
          </a:xfrm>
          <a:prstGeom prst="roundRect">
            <a:avLst>
              <a:gd name="adj" fmla="val 6667"/>
            </a:avLst>
          </a:prstGeom>
          <a:solidFill>
            <a:srgbClr val="131C2E"/>
          </a:solidFill>
          <a:ln w="9525">
            <a:solidFill>
              <a:srgbClr val="26334D"/>
            </a:solidFill>
            <a:prstDash val="solid"/>
          </a:ln>
        </p:spPr>
      </p:sp>
      <p:sp>
        <p:nvSpPr>
          <p:cNvPr id="19" name="Number 4"/>
          <p:cNvSpPr/>
          <p:nvPr/>
        </p:nvSpPr>
        <p:spPr>
          <a:xfrm>
            <a:off x="621792" y="2953512"/>
            <a:ext cx="420624" cy="420624"/>
          </a:xfrm>
          <a:prstGeom prst="ellipse">
            <a:avLst/>
          </a:prstGeom>
          <a:solidFill>
            <a:srgbClr val="38BDF8"/>
          </a:solidFill>
          <a:ln w="12700">
            <a:solidFill>
              <a:srgbClr val="38BDF8"/>
            </a:solidFill>
            <a:prstDash val="solid"/>
          </a:ln>
        </p:spPr>
      </p:sp>
      <p:sp>
        <p:nvSpPr>
          <p:cNvPr id="20" name="Text 18"/>
          <p:cNvSpPr txBox="1"/>
          <p:nvPr/>
        </p:nvSpPr>
        <p:spPr>
          <a:xfrm>
            <a:off x="621792" y="2953512"/>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rPr>
              <a:t>4</a:t>
            </a:r>
            <a:endParaRPr lang="en-US" sz="1600" dirty="0"/>
          </a:p>
        </p:txBody>
      </p:sp>
      <p:sp>
        <p:nvSpPr>
          <p:cNvPr id="21" name="Text 19"/>
          <p:cNvSpPr txBox="1"/>
          <p:nvPr/>
        </p:nvSpPr>
        <p:spPr>
          <a:xfrm>
            <a:off x="1143000" y="2953512"/>
            <a:ext cx="1828800" cy="420624"/>
          </a:xfrm>
          <a:prstGeom prst="rect">
            <a:avLst/>
          </a:prstGeom>
          <a:noFill/>
          <a:ln/>
        </p:spPr>
        <p:txBody>
          <a:bodyPr wrap="square" lIns="0" tIns="0" rIns="0" bIns="0" rtlCol="0" anchor="ctr"/>
          <a:lstStyle/>
          <a:p>
            <a:pPr indent="0" marL="0">
              <a:buNone/>
            </a:pPr>
            <a:r>
              <a:rPr lang="en-US" sz="1400" b="1" dirty="0">
                <a:solidFill>
                  <a:srgbClr val="F1F5F9"/>
                </a:solidFill>
              </a:rPr>
              <a:t>Action advice</a:t>
            </a:r>
            <a:endParaRPr lang="en-US" sz="1400" dirty="0"/>
          </a:p>
        </p:txBody>
      </p:sp>
      <p:sp>
        <p:nvSpPr>
          <p:cNvPr id="22" name="Text 20"/>
          <p:cNvSpPr txBox="1"/>
          <p:nvPr/>
        </p:nvSpPr>
        <p:spPr>
          <a:xfrm>
            <a:off x="621792" y="3520440"/>
            <a:ext cx="2331720" cy="548640"/>
          </a:xfrm>
          <a:prstGeom prst="rect">
            <a:avLst/>
          </a:prstGeom>
          <a:noFill/>
          <a:ln/>
        </p:spPr>
        <p:txBody>
          <a:bodyPr wrap="square" lIns="0" tIns="0" rIns="0" bIns="0" rtlCol="0" anchor="ctr"/>
          <a:lstStyle/>
          <a:p>
            <a:pPr indent="0" marL="0">
              <a:buNone/>
            </a:pPr>
            <a:r>
              <a:rPr lang="en-US" sz="1200" dirty="0">
                <a:solidFill>
                  <a:srgbClr val="94A3B8"/>
                </a:solidFill>
              </a:rPr>
              <a:t>Plain steps: what to inspect first</a:t>
            </a:r>
            <a:endParaRPr lang="en-US" sz="1200" dirty="0"/>
          </a:p>
        </p:txBody>
      </p:sp>
      <p:sp>
        <p:nvSpPr>
          <p:cNvPr id="23" name="Next card 5"/>
          <p:cNvSpPr/>
          <p:nvPr/>
        </p:nvSpPr>
        <p:spPr>
          <a:xfrm>
            <a:off x="3264408" y="2788920"/>
            <a:ext cx="2624328" cy="1371600"/>
          </a:xfrm>
          <a:prstGeom prst="roundRect">
            <a:avLst>
              <a:gd name="adj" fmla="val 6667"/>
            </a:avLst>
          </a:prstGeom>
          <a:solidFill>
            <a:srgbClr val="131C2E"/>
          </a:solidFill>
          <a:ln w="9525">
            <a:solidFill>
              <a:srgbClr val="26334D"/>
            </a:solidFill>
            <a:prstDash val="solid"/>
          </a:ln>
        </p:spPr>
      </p:sp>
      <p:sp>
        <p:nvSpPr>
          <p:cNvPr id="24" name="Number 5"/>
          <p:cNvSpPr/>
          <p:nvPr/>
        </p:nvSpPr>
        <p:spPr>
          <a:xfrm>
            <a:off x="3429000" y="2953512"/>
            <a:ext cx="420624" cy="420624"/>
          </a:xfrm>
          <a:prstGeom prst="ellipse">
            <a:avLst/>
          </a:prstGeom>
          <a:solidFill>
            <a:srgbClr val="38BDF8"/>
          </a:solidFill>
          <a:ln w="12700">
            <a:solidFill>
              <a:srgbClr val="38BDF8"/>
            </a:solidFill>
            <a:prstDash val="solid"/>
          </a:ln>
        </p:spPr>
      </p:sp>
      <p:sp>
        <p:nvSpPr>
          <p:cNvPr id="25" name="Text 23"/>
          <p:cNvSpPr txBox="1"/>
          <p:nvPr/>
        </p:nvSpPr>
        <p:spPr>
          <a:xfrm>
            <a:off x="3429000" y="2953512"/>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rPr>
              <a:t>5</a:t>
            </a:r>
            <a:endParaRPr lang="en-US" sz="1600" dirty="0"/>
          </a:p>
        </p:txBody>
      </p:sp>
      <p:sp>
        <p:nvSpPr>
          <p:cNvPr id="26" name="Text 24"/>
          <p:cNvSpPr txBox="1"/>
          <p:nvPr/>
        </p:nvSpPr>
        <p:spPr>
          <a:xfrm>
            <a:off x="3950208" y="2953512"/>
            <a:ext cx="1828800" cy="420624"/>
          </a:xfrm>
          <a:prstGeom prst="rect">
            <a:avLst/>
          </a:prstGeom>
          <a:noFill/>
          <a:ln/>
        </p:spPr>
        <p:txBody>
          <a:bodyPr wrap="square" lIns="0" tIns="0" rIns="0" bIns="0" rtlCol="0" anchor="ctr"/>
          <a:lstStyle/>
          <a:p>
            <a:pPr indent="0" marL="0">
              <a:buNone/>
            </a:pPr>
            <a:r>
              <a:rPr lang="en-US" sz="1400" b="1" dirty="0">
                <a:solidFill>
                  <a:srgbClr val="F1F5F9"/>
                </a:solidFill>
              </a:rPr>
              <a:t>Machine priority</a:t>
            </a:r>
            <a:endParaRPr lang="en-US" sz="1400" dirty="0"/>
          </a:p>
        </p:txBody>
      </p:sp>
      <p:sp>
        <p:nvSpPr>
          <p:cNvPr id="27" name="Text 25"/>
          <p:cNvSpPr txBox="1"/>
          <p:nvPr/>
        </p:nvSpPr>
        <p:spPr>
          <a:xfrm>
            <a:off x="3429000" y="3520440"/>
            <a:ext cx="2331720" cy="548640"/>
          </a:xfrm>
          <a:prstGeom prst="rect">
            <a:avLst/>
          </a:prstGeom>
          <a:noFill/>
          <a:ln/>
        </p:spPr>
        <p:txBody>
          <a:bodyPr wrap="square" lIns="0" tIns="0" rIns="0" bIns="0" rtlCol="0" anchor="ctr"/>
          <a:lstStyle/>
          <a:p>
            <a:pPr indent="0" marL="0">
              <a:buNone/>
            </a:pPr>
            <a:r>
              <a:rPr lang="en-US" sz="1200" dirty="0">
                <a:solidFill>
                  <a:srgbClr val="94A3B8"/>
                </a:solidFill>
              </a:rPr>
              <a:t>Show which machine needs help first</a:t>
            </a:r>
            <a:endParaRPr lang="en-US" sz="1200" dirty="0"/>
          </a:p>
        </p:txBody>
      </p:sp>
      <p:sp>
        <p:nvSpPr>
          <p:cNvPr id="28" name="Next card 6"/>
          <p:cNvSpPr/>
          <p:nvPr/>
        </p:nvSpPr>
        <p:spPr>
          <a:xfrm>
            <a:off x="6071616" y="2788920"/>
            <a:ext cx="2624328" cy="1371600"/>
          </a:xfrm>
          <a:prstGeom prst="roundRect">
            <a:avLst>
              <a:gd name="adj" fmla="val 6667"/>
            </a:avLst>
          </a:prstGeom>
          <a:solidFill>
            <a:srgbClr val="131C2E"/>
          </a:solidFill>
          <a:ln w="9525">
            <a:solidFill>
              <a:srgbClr val="26334D"/>
            </a:solidFill>
            <a:prstDash val="solid"/>
          </a:ln>
        </p:spPr>
      </p:sp>
      <p:sp>
        <p:nvSpPr>
          <p:cNvPr id="29" name="Number 6"/>
          <p:cNvSpPr/>
          <p:nvPr/>
        </p:nvSpPr>
        <p:spPr>
          <a:xfrm>
            <a:off x="6236208" y="2953512"/>
            <a:ext cx="420624" cy="420624"/>
          </a:xfrm>
          <a:prstGeom prst="ellipse">
            <a:avLst/>
          </a:prstGeom>
          <a:solidFill>
            <a:srgbClr val="38BDF8"/>
          </a:solidFill>
          <a:ln w="12700">
            <a:solidFill>
              <a:srgbClr val="38BDF8"/>
            </a:solidFill>
            <a:prstDash val="solid"/>
          </a:ln>
        </p:spPr>
      </p:sp>
      <p:sp>
        <p:nvSpPr>
          <p:cNvPr id="30" name="Text 28"/>
          <p:cNvSpPr txBox="1"/>
          <p:nvPr/>
        </p:nvSpPr>
        <p:spPr>
          <a:xfrm>
            <a:off x="6236208" y="2953512"/>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rPr>
              <a:t>6</a:t>
            </a:r>
            <a:endParaRPr lang="en-US" sz="1600" dirty="0"/>
          </a:p>
        </p:txBody>
      </p:sp>
      <p:sp>
        <p:nvSpPr>
          <p:cNvPr id="31" name="Text 29"/>
          <p:cNvSpPr txBox="1"/>
          <p:nvPr/>
        </p:nvSpPr>
        <p:spPr>
          <a:xfrm>
            <a:off x="6757416" y="2953512"/>
            <a:ext cx="1828800" cy="420624"/>
          </a:xfrm>
          <a:prstGeom prst="rect">
            <a:avLst/>
          </a:prstGeom>
          <a:noFill/>
          <a:ln/>
        </p:spPr>
        <p:txBody>
          <a:bodyPr wrap="square" lIns="0" tIns="0" rIns="0" bIns="0" rtlCol="0" anchor="ctr"/>
          <a:lstStyle/>
          <a:p>
            <a:pPr indent="0" marL="0">
              <a:buNone/>
            </a:pPr>
            <a:r>
              <a:rPr lang="en-US" sz="1400" b="1" dirty="0">
                <a:solidFill>
                  <a:srgbClr val="F1F5F9"/>
                </a:solidFill>
              </a:rPr>
              <a:t>Final testing</a:t>
            </a:r>
            <a:endParaRPr lang="en-US" sz="1400" dirty="0"/>
          </a:p>
        </p:txBody>
      </p:sp>
      <p:sp>
        <p:nvSpPr>
          <p:cNvPr id="32" name="Text 30"/>
          <p:cNvSpPr txBox="1"/>
          <p:nvPr/>
        </p:nvSpPr>
        <p:spPr>
          <a:xfrm>
            <a:off x="6236208" y="3520440"/>
            <a:ext cx="2331720" cy="548640"/>
          </a:xfrm>
          <a:prstGeom prst="rect">
            <a:avLst/>
          </a:prstGeom>
          <a:noFill/>
          <a:ln/>
        </p:spPr>
        <p:txBody>
          <a:bodyPr wrap="square" lIns="0" tIns="0" rIns="0" bIns="0" rtlCol="0" anchor="ctr"/>
          <a:lstStyle/>
          <a:p>
            <a:pPr indent="0" marL="0">
              <a:buNone/>
            </a:pPr>
            <a:r>
              <a:rPr lang="en-US" sz="1200" dirty="0">
                <a:solidFill>
                  <a:srgbClr val="94A3B8"/>
                </a:solidFill>
              </a:rPr>
              <a:t>Phone check, backup video, full rehearsal</a:t>
            </a:r>
            <a:endParaRPr lang="en-US" sz="1200" dirty="0"/>
          </a:p>
        </p:txBody>
      </p:sp>
      <p:sp>
        <p:nvSpPr>
          <p:cNvPr id="33" name="Text 31"/>
          <p:cNvSpPr txBox="1"/>
          <p:nvPr/>
        </p:nvSpPr>
        <p:spPr>
          <a:xfrm>
            <a:off x="457200" y="4434840"/>
            <a:ext cx="8229600" cy="256032"/>
          </a:xfrm>
          <a:prstGeom prst="rect">
            <a:avLst/>
          </a:prstGeom>
          <a:noFill/>
          <a:ln/>
        </p:spPr>
        <p:txBody>
          <a:bodyPr wrap="square" lIns="0" tIns="0" rIns="0" bIns="0" rtlCol="0" anchor="ctr"/>
          <a:lstStyle/>
          <a:p>
            <a:pPr indent="0" marL="0">
              <a:buNone/>
            </a:pPr>
            <a:r>
              <a:rPr lang="en-US" sz="1200" i="1" dirty="0">
                <a:solidFill>
                  <a:srgbClr val="38BDF8"/>
                </a:solidFill>
              </a:rPr>
              <a:t>We will add only what we can finish and test. A small working system beats a big broken 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Spindle Nadi Dark">
  <a:themeElements>
    <a:clrScheme name="Spindle Nadi Dark">
      <a:dk1>
        <a:srgbClr val="F1F5F9"/>
      </a:dk1>
      <a:lt1>
        <a:srgbClr val="0B1220"/>
      </a:lt1>
      <a:dk2>
        <a:srgbClr val="94A3B8"/>
      </a:dk2>
      <a:lt2>
        <a:srgbClr val="131C2E"/>
      </a:lt2>
      <a:accent1>
        <a:srgbClr val="38BDF8"/>
      </a:accent1>
      <a:accent2>
        <a:srgbClr val="10B981"/>
      </a:accent2>
      <a:accent3>
        <a:srgbClr val="F59E0B"/>
      </a:accent3>
      <a:accent4>
        <a:srgbClr val="EF4444"/>
      </a:accent4>
      <a:accent5>
        <a:srgbClr val="818CF8"/>
      </a:accent5>
      <a:accent6>
        <a:srgbClr val="64748B"/>
      </a:accent6>
      <a:hlink>
        <a:srgbClr val="38BDF8"/>
      </a:hlink>
      <a:folHlink>
        <a:srgbClr val="818CF8"/>
      </a:folHlink>
    </a:clrScheme>
    <a:fontScheme name="Spindle Nadi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Spindle Nadi - Review 2</dc:title>
  <dc:subject>PptxGenJS Presentation</dc:subject>
  <dc:creator>Team Spindle Nadi</dc:creator>
  <cp:lastModifiedBy>Team Spindle Nadi</cp:lastModifiedBy>
  <cp:revision>1</cp:revision>
  <dcterms:created xsi:type="dcterms:W3CDTF">2026-10-03T04:20:36Z</dcterms:created>
  <dcterms:modified xsi:type="dcterms:W3CDTF">2026-10-03T04:20:36Z</dcterms:modified>
</cp:coreProperties>
</file>