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25880"/>
            <a:ext cx="10789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72D7BD"/>
                </a:solidFill>
                <a:latin typeface="Aptos"/>
              </a:rPr>
              <a:t>SPINDLE NADI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57400"/>
            <a:ext cx="1078992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EEF5F7"/>
                </a:solidFill>
                <a:latin typeface="Aptos"/>
              </a:rPr>
              <a:t>Feel the Pulse.
Predict the Failure.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69080"/>
            <a:ext cx="103327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0">
                <a:solidFill>
                  <a:srgbClr val="9AADB5"/>
                </a:solidFill>
                <a:latin typeface="Aptos"/>
              </a:rPr>
              <a:t>Synthetic-data machine-health monitoring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126480"/>
            <a:ext cx="103327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72D7BD"/>
                </a:solidFill>
                <a:latin typeface="Aptos"/>
              </a:rPr>
              <a:t>PROJECT DEMONSTRATION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064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72D7BD"/>
                </a:solidFill>
                <a:latin typeface="Aptos"/>
              </a:rPr>
              <a:t>SPINDLE NADI  /  FEEL THE PULSE. PREDICT THE FAILURE.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EEF5F7"/>
                </a:solidFill>
                <a:latin typeface="Apto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solidFill>
                  <a:srgbClr val="9AADB5"/>
                </a:solidFill>
                <a:latin typeface="Aptos"/>
              </a:rP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03520" cy="1645920"/>
          </a:xfrm>
          <a:prstGeom prst="roundRect">
            <a:avLst/>
          </a:prstGeom>
          <a:solidFill>
            <a:srgbClr val="121E25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55648"/>
            <a:ext cx="493775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C857"/>
                </a:solidFill>
                <a:latin typeface="Aptos"/>
              </a:rPr>
              <a:t>Gradual degradation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240280"/>
            <a:ext cx="4937759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Machine condition changes over time, not only at the instant a fixed alarm limit is crossed.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45920"/>
            <a:ext cx="5303520" cy="1645920"/>
          </a:xfrm>
          <a:prstGeom prst="roundRect">
            <a:avLst/>
          </a:prstGeom>
          <a:solidFill>
            <a:srgbClr val="121E25"/>
          </a:solidFill>
          <a:ln>
            <a:solidFill>
              <a:srgbClr val="72D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755648"/>
            <a:ext cx="493775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72D7BD"/>
                </a:solidFill>
                <a:latin typeface="Aptos"/>
              </a:rPr>
              <a:t>Signals are connected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240280"/>
            <a:ext cx="4937759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Temperature, vibration, motor current, speed, workload, and recent trends need context.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EEF5F7"/>
                </a:solidFill>
                <a:latin typeface="Aptos"/>
              </a:rPr>
              <a:t>Goal: turn changing sensor behavior into an understandable reason to investigate.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064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72D7BD"/>
                </a:solidFill>
                <a:latin typeface="Aptos"/>
              </a:rPr>
              <a:t>SPINDLE NADI  /  FEEL THE PULSE. PREDICT THE FAILURE.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EEF5F7"/>
                </a:solidFill>
                <a:latin typeface="Aptos"/>
              </a:rPr>
              <a:t>One connected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solidFill>
                  <a:srgbClr val="9AADB5"/>
                </a:solidFill>
                <a:latin typeface="Aptos"/>
              </a:rPr>
              <a:t>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40280"/>
            <a:ext cx="2103120" cy="1600200"/>
          </a:xfrm>
          <a:prstGeom prst="roundRect">
            <a:avLst/>
          </a:prstGeom>
          <a:solidFill>
            <a:srgbClr val="121E25"/>
          </a:solidFill>
          <a:ln>
            <a:solidFill>
              <a:srgbClr val="72D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50008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72D7BD"/>
                </a:solidFill>
                <a:latin typeface="Aptos"/>
              </a:rPr>
              <a:t>SIMULATE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834640"/>
            <a:ext cx="1737360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Sensor time series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7752" y="2670048"/>
            <a:ext cx="320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72D7BD"/>
                </a:solidFill>
                <a:latin typeface="Aptos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52928" y="2240280"/>
            <a:ext cx="2103120" cy="1600200"/>
          </a:xfrm>
          <a:prstGeom prst="roundRect">
            <a:avLst/>
          </a:prstGeom>
          <a:solidFill>
            <a:srgbClr val="121E25"/>
          </a:solidFill>
          <a:ln>
            <a:solidFill>
              <a:srgbClr val="72D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35808" y="2350008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72D7BD"/>
                </a:solidFill>
                <a:latin typeface="Aptos"/>
              </a:rPr>
              <a:t>ENGINEER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5808" y="2834640"/>
            <a:ext cx="1737360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Workload + trends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670048"/>
            <a:ext cx="320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72D7BD"/>
                </a:solidFill>
                <a:latin typeface="Aptos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02936" y="2240280"/>
            <a:ext cx="2103120" cy="1600200"/>
          </a:xfrm>
          <a:prstGeom prst="roundRect">
            <a:avLst/>
          </a:prstGeom>
          <a:solidFill>
            <a:srgbClr val="121E25"/>
          </a:solidFill>
          <a:ln>
            <a:solidFill>
              <a:srgbClr val="72D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85816" y="2350008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72D7BD"/>
                </a:solidFill>
                <a:latin typeface="Aptos"/>
              </a:rPr>
              <a:t>ANALYZE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816" y="2834640"/>
            <a:ext cx="1737360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Anomaly +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7767" y="2670048"/>
            <a:ext cx="320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72D7BD"/>
                </a:solidFill>
                <a:latin typeface="Aptos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52944" y="2240280"/>
            <a:ext cx="2103120" cy="1600200"/>
          </a:xfrm>
          <a:prstGeom prst="roundRect">
            <a:avLst/>
          </a:prstGeom>
          <a:solidFill>
            <a:srgbClr val="121E25"/>
          </a:solidFill>
          <a:ln>
            <a:solidFill>
              <a:srgbClr val="72D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35823" y="2350008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72D7BD"/>
                </a:solidFill>
                <a:latin typeface="Aptos"/>
              </a:rPr>
              <a:t>EXPLAIN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3" y="2834640"/>
            <a:ext cx="1737360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WHY + prototype RUL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37776" y="2670048"/>
            <a:ext cx="320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72D7BD"/>
                </a:solidFill>
                <a:latin typeface="Aptos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02952" y="2240280"/>
            <a:ext cx="2103120" cy="1600200"/>
          </a:xfrm>
          <a:prstGeom prst="roundRect">
            <a:avLst/>
          </a:prstGeom>
          <a:solidFill>
            <a:srgbClr val="121E25"/>
          </a:solidFill>
          <a:ln>
            <a:solidFill>
              <a:srgbClr val="72D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5832" y="2350008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72D7BD"/>
                </a:solidFill>
                <a:latin typeface="Aptos"/>
              </a:rPr>
              <a:t>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85832" y="2834640"/>
            <a:ext cx="1737360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Alert + history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754880"/>
            <a:ext cx="106984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9AADB5"/>
                </a:solidFill>
                <a:latin typeface="Aptos"/>
              </a:rPr>
              <a:t>The application is a prototype; its inputs and labels are generated by our simulator.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064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72D7BD"/>
                </a:solidFill>
                <a:latin typeface="Aptos"/>
              </a:rPr>
              <a:t>SPINDLE NADI  /  FEEL THE PULSE. PREDICT THE FAILURE.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EEF5F7"/>
                </a:solidFill>
                <a:latin typeface="Aptos"/>
              </a:rPr>
              <a:t>Simulator and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solidFill>
                  <a:srgbClr val="9AADB5"/>
                </a:solidFill>
                <a:latin typeface="Aptos"/>
              </a:rPr>
              <a:t>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5303520" cy="1508760"/>
          </a:xfrm>
          <a:prstGeom prst="roundRect">
            <a:avLst/>
          </a:prstGeom>
          <a:solidFill>
            <a:srgbClr val="121E25"/>
          </a:solidFill>
          <a:ln>
            <a:solidFill>
              <a:srgbClr val="72D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18488"/>
            <a:ext cx="493775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72D7BD"/>
                </a:solidFill>
                <a:latin typeface="Aptos"/>
              </a:rPr>
              <a:t>Sensor channels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103120"/>
            <a:ext cx="4937759" cy="79552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Temperature · vibration · motor current · RPM · workload · operating hours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508760"/>
            <a:ext cx="5303520" cy="1508760"/>
          </a:xfrm>
          <a:prstGeom prst="roundRect">
            <a:avLst/>
          </a:prstGeom>
          <a:solidFill>
            <a:srgbClr val="121E25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18488"/>
            <a:ext cx="493775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C857"/>
                </a:solidFill>
                <a:latin typeface="Aptos"/>
              </a:rPr>
              <a:t>Scenarios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103120"/>
            <a:ext cx="4937759" cy="79552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Healthy operation with noise → gradual degradation → near-failure test → reset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03320"/>
            <a:ext cx="10789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72D7BD"/>
                </a:solidFill>
                <a:latin typeface="Aptos"/>
              </a:rPr>
              <a:t>256 generated readings · 8 machines · NORMAL: 144  |  WARNING: 56  |  CRITICAL: 56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10332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9AADB5"/>
                </a:solidFill>
                <a:latin typeface="Aptos"/>
              </a:rPr>
              <a:t>Workload-adjusted deviations, rolling means, five-sample slopes, and RPM variability provide context.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064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72D7BD"/>
                </a:solidFill>
                <a:latin typeface="Aptos"/>
              </a:rPr>
              <a:t>SPINDLE NADI  /  FEEL THE PULSE. PREDICT THE FAILURE.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EEF5F7"/>
                </a:solidFill>
                <a:latin typeface="Aptos"/>
              </a:rPr>
              <a:t>Dashboard and response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solidFill>
                  <a:srgbClr val="9AADB5"/>
                </a:solidFill>
                <a:latin typeface="Aptos"/>
              </a:rPr>
              <a:t>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1645920"/>
          </a:xfrm>
          <a:prstGeom prst="roundRect">
            <a:avLst/>
          </a:prstGeom>
          <a:solidFill>
            <a:srgbClr val="121E25"/>
          </a:solidFill>
          <a:ln>
            <a:solidFill>
              <a:srgbClr val="72D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64207"/>
            <a:ext cx="493775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72D7BD"/>
                </a:solidFill>
                <a:latin typeface="Aptos"/>
              </a:rPr>
              <a:t>Monitor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148840"/>
            <a:ext cx="4937759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Fleet health cards, live sensor values, risk gauge, anomaly score, and trend charts.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554480"/>
            <a:ext cx="5303520" cy="1645920"/>
          </a:xfrm>
          <a:prstGeom prst="roundRect">
            <a:avLst/>
          </a:prstGeom>
          <a:solidFill>
            <a:srgbClr val="121E25"/>
          </a:solidFill>
          <a:ln>
            <a:solidFill>
              <a:srgbClr val="72D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64207"/>
            <a:ext cx="493775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72D7BD"/>
                </a:solidFill>
                <a:latin typeface="Aptos"/>
              </a:rPr>
              <a:t>Understand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148840"/>
            <a:ext cx="4937759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Local feature contributions, prototype remaining-life estimate, and held-out evaluation.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3794760"/>
            <a:ext cx="5303520" cy="1645920"/>
          </a:xfrm>
          <a:prstGeom prst="roundRect">
            <a:avLst/>
          </a:prstGeom>
          <a:solidFill>
            <a:srgbClr val="121E25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3904488"/>
            <a:ext cx="493775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C857"/>
                </a:solidFill>
                <a:latin typeface="Aptos"/>
              </a:rPr>
              <a:t>Respond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389120"/>
            <a:ext cx="4937759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Condition-linked maintenance recommendation, transition alerts, history, and CSV exports.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064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72D7BD"/>
                </a:solidFill>
                <a:latin typeface="Aptos"/>
              </a:rPr>
              <a:t>SPINDLE NADI  /  FEEL THE PULSE. PREDICT THE FAILURE.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EEF5F7"/>
                </a:solidFill>
                <a:latin typeface="Aptos"/>
              </a:rPr>
              <a:t>Differentiate through the operator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solidFill>
                  <a:srgbClr val="9AADB5"/>
                </a:solidFill>
                <a:latin typeface="Aptos"/>
              </a:rPr>
              <a:t>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2743200" cy="1691640"/>
          </a:xfrm>
          <a:prstGeom prst="roundRect">
            <a:avLst/>
          </a:prstGeom>
          <a:solidFill>
            <a:srgbClr val="121E25"/>
          </a:solidFill>
          <a:ln>
            <a:solidFill>
              <a:srgbClr val="72D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64207"/>
            <a:ext cx="23774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72D7BD"/>
                </a:solidFill>
                <a:latin typeface="Aptos"/>
              </a:rPr>
              <a:t>What-if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2377440" cy="9784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Run a paired workload projection without changing live machine state.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554480"/>
            <a:ext cx="2743200" cy="1691640"/>
          </a:xfrm>
          <a:prstGeom prst="roundRect">
            <a:avLst/>
          </a:prstGeom>
          <a:solidFill>
            <a:srgbClr val="121E25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664207"/>
            <a:ext cx="23774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C857"/>
                </a:solidFill>
                <a:latin typeface="Aptos"/>
              </a:rPr>
              <a:t>Maintenance copilot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148840"/>
            <a:ext cx="2377440" cy="9784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Turn current model evidence into a local, explainable action suggestion.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2743200" cy="1691640"/>
          </a:xfrm>
          <a:prstGeom prst="roundRect">
            <a:avLst/>
          </a:prstGeom>
          <a:solidFill>
            <a:srgbClr val="121E25"/>
          </a:solidFill>
          <a:ln>
            <a:solidFill>
              <a:srgbClr val="FF6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64207"/>
            <a:ext cx="23774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647C"/>
                </a:solidFill>
                <a:latin typeface="Aptos"/>
              </a:rPr>
              <a:t>Virtual service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2377440" cy="9784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Simulate wear recovery and verify before/after estimated risk.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81160" y="1554480"/>
            <a:ext cx="2423160" cy="1691640"/>
          </a:xfrm>
          <a:prstGeom prst="roundRect">
            <a:avLst/>
          </a:prstGeom>
          <a:solidFill>
            <a:srgbClr val="121E25"/>
          </a:solidFill>
          <a:ln>
            <a:solidFill>
              <a:srgbClr val="72D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64040" y="1664207"/>
            <a:ext cx="2057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72D7BD"/>
                </a:solidFill>
                <a:latin typeface="Aptos"/>
              </a:rPr>
              <a:t>Twin + timeline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2148840"/>
            <a:ext cx="2057400" cy="9784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Map evidence to a machine schematic and review recorded events.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10789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9AADB5"/>
                </a:solidFill>
                <a:latin typeface="Aptos"/>
              </a:rPr>
              <a:t>A demonstration of decisions, not just a model score. All guidance and maintenance are simulated.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064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72D7BD"/>
                </a:solidFill>
                <a:latin typeface="Aptos"/>
              </a:rPr>
              <a:t>SPINDLE NADI  /  FEEL THE PULSE. PREDICT THE FAILURE.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EEF5F7"/>
                </a:solidFill>
                <a:latin typeface="Aptos"/>
              </a:rPr>
              <a:t>Measured synthetic-data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solidFill>
                  <a:srgbClr val="9AADB5"/>
                </a:solidFill>
                <a:latin typeface="Aptos"/>
              </a:rPr>
              <a:t>07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2606040" cy="1325880"/>
          </a:xfrm>
          <a:prstGeom prst="roundRect">
            <a:avLst/>
          </a:prstGeom>
          <a:solidFill>
            <a:srgbClr val="121E25"/>
          </a:solidFill>
          <a:ln>
            <a:solidFill>
              <a:srgbClr val="72D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47088"/>
            <a:ext cx="2240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72D7BD"/>
                </a:solidFill>
                <a:latin typeface="Aptos"/>
              </a:rPr>
              <a:t>Risk MAE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240280" cy="61264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0.006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737360"/>
            <a:ext cx="2606040" cy="1325880"/>
          </a:xfrm>
          <a:prstGeom prst="roundRect">
            <a:avLst/>
          </a:prstGeom>
          <a:solidFill>
            <a:srgbClr val="121E25"/>
          </a:solidFill>
          <a:ln>
            <a:solidFill>
              <a:srgbClr val="72D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847088"/>
            <a:ext cx="2240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72D7BD"/>
                </a:solidFill>
                <a:latin typeface="Aptos"/>
              </a:rPr>
              <a:t>Precision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331720"/>
            <a:ext cx="2240280" cy="61264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1.00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737360"/>
            <a:ext cx="2606040" cy="1325880"/>
          </a:xfrm>
          <a:prstGeom prst="roundRect">
            <a:avLst/>
          </a:prstGeom>
          <a:solidFill>
            <a:srgbClr val="121E25"/>
          </a:solidFill>
          <a:ln>
            <a:solidFill>
              <a:srgbClr val="72D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847088"/>
            <a:ext cx="2240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72D7BD"/>
                </a:solidFill>
                <a:latin typeface="Aptos"/>
              </a:rPr>
              <a:t>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331720"/>
            <a:ext cx="2240280" cy="61264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1.00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1737360"/>
            <a:ext cx="2606040" cy="1325880"/>
          </a:xfrm>
          <a:prstGeom prst="roundRect">
            <a:avLst/>
          </a:prstGeom>
          <a:solidFill>
            <a:srgbClr val="121E25"/>
          </a:solidFill>
          <a:ln>
            <a:solidFill>
              <a:srgbClr val="72D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19" y="1847088"/>
            <a:ext cx="2240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72D7BD"/>
                </a:solidFill>
                <a:latin typeface="Aptos"/>
              </a:rPr>
              <a:t>F1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19" y="2331720"/>
            <a:ext cx="2240280" cy="61264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1.00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657600"/>
            <a:ext cx="10515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EEF5F7"/>
                </a:solidFill>
                <a:latin typeface="Aptos"/>
              </a:rPr>
              <a:t>Test set: 64 readings from 2 held-out machines.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389120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C857"/>
                </a:solidFill>
                <a:latin typeface="Aptos"/>
              </a:rPr>
              <a:t>Numbers describe generated data only. They do not establish real-machine accuracy or lead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064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72D7BD"/>
                </a:solidFill>
                <a:latin typeface="Aptos"/>
              </a:rPr>
              <a:t>SPINDLE NADI  /  FEEL THE PULSE. PREDICT THE FAILURE.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EEF5F7"/>
                </a:solidFill>
                <a:latin typeface="Aptos"/>
              </a:rPr>
              <a:t>WHY, RUL, and maintenance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solidFill>
                  <a:srgbClr val="9AADB5"/>
                </a:solidFill>
                <a:latin typeface="Aptos"/>
              </a:rPr>
              <a:t>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3474720" cy="1920240"/>
          </a:xfrm>
          <a:prstGeom prst="roundRect">
            <a:avLst/>
          </a:prstGeom>
          <a:solidFill>
            <a:srgbClr val="121E25"/>
          </a:solidFill>
          <a:ln>
            <a:solidFill>
              <a:srgbClr val="72D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55648"/>
            <a:ext cx="3108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72D7BD"/>
                </a:solidFill>
                <a:latin typeface="Aptos"/>
              </a:rPr>
              <a:t>WHY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240280"/>
            <a:ext cx="3108960" cy="12070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Estimate contributions by restoring one feature at a time to its healthy reference.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1920240"/>
          </a:xfrm>
          <a:prstGeom prst="roundRect">
            <a:avLst/>
          </a:prstGeom>
          <a:solidFill>
            <a:srgbClr val="121E25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55648"/>
            <a:ext cx="3108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C857"/>
                </a:solidFill>
                <a:latin typeface="Aptos"/>
              </a:rPr>
              <a:t>Last Good Hour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240280"/>
            <a:ext cx="3108960" cy="12070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Extrapolate the simulator's fixed degradation rate. This is not a failure-time guarantee.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474720" cy="1920240"/>
          </a:xfrm>
          <a:prstGeom prst="roundRect">
            <a:avLst/>
          </a:prstGeom>
          <a:solidFill>
            <a:srgbClr val="121E25"/>
          </a:solidFill>
          <a:ln>
            <a:solidFill>
              <a:srgbClr val="FF6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55648"/>
            <a:ext cx="3108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647C"/>
                </a:solidFill>
                <a:latin typeface="Aptos"/>
              </a:rPr>
              <a:t>Maintenance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40280"/>
            <a:ext cx="3108960" cy="12070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Record a higher-risk transition and link inspection suggestions to the top model factors.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89120"/>
            <a:ext cx="10515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9AADB5"/>
                </a:solidFill>
                <a:latin typeface="Aptos"/>
              </a:rPr>
              <a:t>No real-machine lifetime, safety, or causal claims are made.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064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72D7BD"/>
                </a:solidFill>
                <a:latin typeface="Aptos"/>
              </a:rPr>
              <a:t>SPINDLE NADI  /  FEEL THE PULSE. PREDICT THE FAILURE.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EEF5F7"/>
                </a:solidFill>
                <a:latin typeface="Aptos"/>
              </a:rPr>
              <a:t>Limitations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73952"/>
            <a:ext cx="5029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solidFill>
                  <a:srgbClr val="9AADB5"/>
                </a:solidFill>
                <a:latin typeface="Aptos"/>
              </a:rPr>
              <a:t>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1645920"/>
          </a:xfrm>
          <a:prstGeom prst="roundRect">
            <a:avLst/>
          </a:prstGeom>
          <a:solidFill>
            <a:srgbClr val="121E25"/>
          </a:solidFill>
          <a:ln>
            <a:solidFill>
              <a:srgbClr val="72D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64207"/>
            <a:ext cx="493775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72D7BD"/>
                </a:solidFill>
                <a:latin typeface="Aptos"/>
              </a:rPr>
              <a:t>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148840"/>
            <a:ext cx="4937759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Reproducible synthetic data · simple interpretable pipeline · interactive local demo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554480"/>
            <a:ext cx="5303520" cy="1645920"/>
          </a:xfrm>
          <a:prstGeom prst="roundRect">
            <a:avLst/>
          </a:prstGeom>
          <a:solidFill>
            <a:srgbClr val="121E25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64207"/>
            <a:ext cx="493775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C857"/>
                </a:solidFill>
                <a:latin typeface="Aptos"/>
              </a:rPr>
              <a:t>Next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148840"/>
            <a:ext cx="4937759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EF5F7"/>
                </a:solidFill>
                <a:latin typeface="Aptos"/>
              </a:rPr>
              <a:t>Connect validated sensors and maintenance labels; assess drift, false alarms, and machine-specific behavior.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1033272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EEF5F7"/>
                </a:solidFill>
                <a:latin typeface="Aptos"/>
              </a:rPr>
              <a:t>Traditional monitoring asks: “Did we cross a limit?”
Spindle Nadi explores: “Are signals getting worse, and why?”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